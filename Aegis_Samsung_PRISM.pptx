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400" b="0">
                <a:solidFill>
                  <a:srgbClr val="63637E"/>
                </a:solidFill>
                <a:latin typeface="Calibri"/>
              </a:rPr>
              <a:t>Theme ID - Live / Streaming RAG
Project - Aegis
Team Name - ____________________
College Name - ____________________
Member Name &amp; Email 1 - ____________________
Member Name &amp; Email 2 - ____________________
Member Name &amp; Email 3 - ____________________
Member Name &amp; Email 4 - ____________________
Submission GitHub link - ____________________</a:t>
            </a:r>
            <a:endParaRPr/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TextBox 96"/>
          <p:cNvSpPr txBox="1"/>
          <p:nvPr/>
        </p:nvSpPr>
        <p:spPr>
          <a:xfrm>
            <a:off x="777240" y="5349240"/>
            <a:ext cx="5760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704EA6"/>
                </a:solidFill>
                <a:latin typeface="Arial"/>
              </a:rPr>
              <a:t>STATEFUL • HYBRID • REAL-TIME • GROUNDED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Theme — Live Streaming RAG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68680" y="1874519"/>
            <a:ext cx="65836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704EA6"/>
                </a:solidFill>
                <a:latin typeface="Arial"/>
              </a:rPr>
              <a:t>THE CORE IDEA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" y="2240280"/>
            <a:ext cx="64008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4142B"/>
                </a:solidFill>
                <a:latin typeface="Arial"/>
              </a:rPr>
              <a:t>Search before the user finishes speaking.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8680" y="3127248"/>
            <a:ext cx="6400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6D28D9"/>
                </a:solidFill>
                <a:latin typeface="Arial"/>
              </a:rPr>
              <a:t>Then patch only what changed.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8680" y="3611880"/>
            <a:ext cx="64008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3637E"/>
                </a:solidFill>
                <a:latin typeface="Arial"/>
              </a:rPr>
              <a:t>Aegis is an ultra-low-latency conversational RAG architecture for streaming interfaces. Answers are treated as stateful claims—not regenerated from scratch every turn.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635240" y="1938528"/>
            <a:ext cx="3246120" cy="1417320"/>
          </a:xfrm>
          <a:prstGeom prst="roundRect">
            <a:avLst/>
          </a:prstGeom>
          <a:solidFill>
            <a:srgbClr val="F4F0FA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63637E"/>
                </a:solidFill>
                <a:latin typeface="Arial"/>
              </a:rPr>
              <a:t>TRADITIONAL RAG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14142B"/>
                </a:solidFill>
                <a:latin typeface="Arial"/>
              </a:rPr>
              <a:t>wait → retrieve → generate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3637E"/>
                </a:solidFill>
                <a:latin typeface="Arial"/>
              </a:rPr>
              <a:t>Latency compounds at the end of speech.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635240" y="3611880"/>
            <a:ext cx="32461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04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04EA6"/>
                </a:solidFill>
                <a:latin typeface="Arial"/>
              </a:rPr>
              <a:t>AEGIS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6D28D9"/>
                </a:solidFill>
                <a:latin typeface="Arial"/>
              </a:rPr>
              <a:t>listen → speculate → patch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3637E"/>
                </a:solidFill>
                <a:latin typeface="Arial"/>
              </a:rPr>
              <a:t>Retrieval and refinement become incremental.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68680" y="4956048"/>
            <a:ext cx="1234440" cy="292608"/>
          </a:xfrm>
          <a:prstGeom prst="roundRect">
            <a:avLst/>
          </a:prstGeom>
          <a:solidFill>
            <a:srgbClr val="704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STREAMING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12848" y="4956048"/>
            <a:ext cx="123444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STATEFUL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557016" y="4956048"/>
            <a:ext cx="1234440" cy="292608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HYBRID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901184" y="4956048"/>
            <a:ext cx="1234440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GROUNDED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Existing Solutions &amp; Gaps</a:t>
            </a:r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868680" y="1847088"/>
            <a:ext cx="100584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704EA6"/>
                </a:solidFill>
                <a:latin typeface="Arial"/>
              </a:rPr>
              <a:t>WHY NAIVE RAG BREAKS WHEN CONVERSATION BECOMES REAL-TIME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68680" y="2423160"/>
            <a:ext cx="23317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04EA6"/>
                </a:solidFill>
                <a:latin typeface="Arial"/>
              </a:rPr>
              <a:t>01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  <a:latin typeface="Arial"/>
              </a:rPr>
              <a:t>LATENCY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Arial"/>
              </a:rPr>
              <a:t>3–5 s delay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Waits for utterance_end before retrieval + generation.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68680" y="2423160"/>
            <a:ext cx="64008" cy="2331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3474720" y="2423160"/>
            <a:ext cx="23317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04EA6"/>
                </a:solidFill>
                <a:latin typeface="Arial"/>
              </a:rPr>
              <a:t>02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  <a:latin typeface="Arial"/>
              </a:rPr>
              <a:t>MULTI-INTENT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Arial"/>
              </a:rPr>
              <a:t>context dilution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Top-k chunks mix unrelated intents; one claim can contaminate another.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74720" y="2423160"/>
            <a:ext cx="64008" cy="23317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6080760" y="2423160"/>
            <a:ext cx="23317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04EA6"/>
                </a:solidFill>
                <a:latin typeface="Arial"/>
              </a:rPr>
              <a:t>03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  <a:latin typeface="Arial"/>
              </a:rPr>
              <a:t>LATE CONSTRAINTS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Arial"/>
              </a:rPr>
              <a:t>restart the pipeline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“Actually, 500 people” triggers expensive re-retrieval and regeneration.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80760" y="2423160"/>
            <a:ext cx="64008" cy="2331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8686800" y="2423160"/>
            <a:ext cx="23317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04EA6"/>
                </a:solidFill>
                <a:latin typeface="Arial"/>
              </a:rPr>
              <a:t>04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  <a:latin typeface="Arial"/>
              </a:rPr>
              <a:t>NUMERIC FACTS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Arial"/>
              </a:rPr>
              <a:t>LLMs are not calculators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Capacity / fee / limit values can be merged or hallucinated.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686800" y="2423160"/>
            <a:ext cx="64008" cy="233172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68680" y="5074920"/>
            <a:ext cx="9966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4142B"/>
                </a:solidFill>
                <a:latin typeface="Arial"/>
              </a:rPr>
              <a:t>Design requirement →  latency must overlap with speech, intents must stay isolated, refinements must be surgical, and hard numbers must bypass probabilistic generation.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Our Solution &amp; Architecture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68680" y="1700784"/>
            <a:ext cx="10058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704EA6"/>
                </a:solidFill>
                <a:latin typeface="Arial"/>
              </a:rPr>
              <a:t>AEGIS = REAL-TIME CONTROLLER + RETRIEVAL ENGINE + HYBRID SYNTHESIS + TRUST BOUNDARY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68680" y="2148840"/>
            <a:ext cx="20116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142B"/>
                </a:solidFill>
                <a:latin typeface="Arial"/>
              </a:rPr>
              <a:t>INPUT / CONTROL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User voice / text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Audio-text buffer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Speculative trigger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68680" y="2148840"/>
            <a:ext cx="2011680" cy="73152"/>
          </a:xfrm>
          <a:prstGeom prst="rect">
            <a:avLst/>
          </a:prstGeom>
          <a:solidFill>
            <a:srgbClr val="14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3063240" y="2148840"/>
            <a:ext cx="23317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766E"/>
                </a:solidFill>
                <a:latin typeface="Arial"/>
              </a:rPr>
              <a:t>RETRIEVAL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Provisional search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Multi-intent decomposer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Final parallel retrieval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Enterprise corpus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063240" y="2148840"/>
            <a:ext cx="2331720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5577840" y="2148840"/>
            <a:ext cx="2743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04EA6"/>
                </a:solidFill>
                <a:latin typeface="Arial"/>
              </a:rPr>
              <a:t>SYNTHESIS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Intent router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Deterministic regex / math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LLM for abstract policy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Delta patch engine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577840" y="2148840"/>
            <a:ext cx="2743200" cy="73152"/>
          </a:xfrm>
          <a:prstGeom prst="rect">
            <a:avLst/>
          </a:prstGeom>
          <a:solidFill>
            <a:srgbClr val="704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8458200" y="2148840"/>
            <a:ext cx="24231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TRUST OUTPUT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Stateful claim drafts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Trust Gauntlet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142B"/>
                </a:solidFill>
                <a:latin typeface="Arial"/>
              </a:rPr>
              <a:t>• Grounding boundary / UI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458200" y="2148840"/>
            <a:ext cx="242316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2880360" y="3337560"/>
            <a:ext cx="182880" cy="0"/>
          </a:xfrm>
          <a:prstGeom prst="line">
            <a:avLst/>
          </a:prstGeom>
          <a:ln w="25400">
            <a:solidFill>
              <a:srgbClr val="704E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5394960" y="3337560"/>
            <a:ext cx="182880" cy="0"/>
          </a:xfrm>
          <a:prstGeom prst="line">
            <a:avLst/>
          </a:prstGeom>
          <a:ln w="25400">
            <a:solidFill>
              <a:srgbClr val="704E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8321040" y="3337560"/>
            <a:ext cx="137160" cy="0"/>
          </a:xfrm>
          <a:prstGeom prst="line">
            <a:avLst/>
          </a:prstGeom>
          <a:ln w="25400">
            <a:solidFill>
              <a:srgbClr val="704E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868680" y="4736592"/>
            <a:ext cx="10012680" cy="749808"/>
          </a:xfrm>
          <a:prstGeom prst="roundRect">
            <a:avLst/>
          </a:prstGeom>
          <a:solidFill>
            <a:srgbClr val="F4F0FA"/>
          </a:solidFill>
          <a:ln w="12700">
            <a:solidFill>
              <a:srgbClr val="704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704EA6"/>
                </a:solidFill>
                <a:latin typeface="Arial"/>
              </a:rPr>
              <a:t>MID-SENTENCE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4142B"/>
                </a:solidFill>
                <a:latin typeface="Arial"/>
              </a:rPr>
              <a:t>Speculate early  →  reuse provisional evidence  →  route each claim  →  patch only the changed claim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Demo &amp; Product Walkthrough</a:t>
            </a: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868680" y="1755648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704EA6"/>
                </a:solidFill>
                <a:latin typeface="Arial"/>
              </a:rPr>
              <a:t>ONE CONVERSATION • FOUR SYSTEM BEHAVIORS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68680" y="2240280"/>
            <a:ext cx="470916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Arial"/>
              </a:rPr>
              <a:t>01  MULTI-INTENT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4142B"/>
                </a:solidFill>
                <a:latin typeface="Arial"/>
              </a:rPr>
              <a:t>“Restaurant for an event in Mumbai + corporate pet policy”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Split → retrieve independently → route math vs policy → isolated claims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943600" y="2240280"/>
            <a:ext cx="470916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02  LATE CONSTRAINT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4142B"/>
                </a:solidFill>
                <a:latin typeface="Arial"/>
              </a:rPr>
              <a:t>“Actually, I need to accommodate 500 people.”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Diff the state → retrieve capacity only → patch restaurant claim; keep policy untouched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68680" y="3721608"/>
            <a:ext cx="470916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766E"/>
                </a:solidFill>
                <a:latin typeface="Arial"/>
              </a:rPr>
              <a:t>03  PRESENTATION-ONLY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4142B"/>
                </a:solidFill>
                <a:latin typeface="Arial"/>
              </a:rPr>
              <a:t>“Present this.”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Suppression Gate → reuse existing evidence → no retrieval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943600" y="3721608"/>
            <a:ext cx="470916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04EA6"/>
                </a:solidFill>
                <a:latin typeface="Arial"/>
              </a:rPr>
              <a:t>04  TRUST GAUNTLET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4142B"/>
                </a:solidFill>
                <a:latin typeface="Arial"/>
              </a:rPr>
              <a:t>Hard-number grounding test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Bind every claim to chunk_id → validate overlap / similarity → uncertain claims hit boundary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8680" y="5330952"/>
            <a:ext cx="9966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4142B"/>
                </a:solidFill>
                <a:latin typeface="Arial"/>
              </a:rPr>
              <a:t>Result: Aegis preserves what is still valid instead of regenerating the whole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Tools &amp; Tech Stack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868680" y="1755648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704EA6"/>
                </a:solidFill>
                <a:latin typeface="Arial"/>
              </a:rPr>
              <a:t>THE IMPLEMENTATION IS DELIBERATELY LIGHTWEIGHT AND LOCAL-FIRST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68680" y="2212848"/>
            <a:ext cx="1508760" cy="292608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APPLICATION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78608" y="2203704"/>
            <a:ext cx="256032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4142B"/>
                </a:solidFill>
                <a:latin typeface="Arial"/>
              </a:rPr>
              <a:t>Python + Asyncio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74920" y="2203704"/>
            <a:ext cx="525780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Arial"/>
              </a:rPr>
              <a:t>Streaming orchestration and stateful claim processing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68680" y="2816352"/>
            <a:ext cx="15087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API / STREAMING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578608" y="2807208"/>
            <a:ext cx="256032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4142B"/>
                </a:solidFill>
                <a:latin typeface="Arial"/>
              </a:rPr>
              <a:t>FastAPI + Uvicorn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074920" y="2807208"/>
            <a:ext cx="525780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Arial"/>
              </a:rPr>
              <a:t>Low-overhead streaming endpoints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68680" y="3419856"/>
            <a:ext cx="1508760" cy="292608"/>
          </a:xfrm>
          <a:prstGeom prst="roundRect">
            <a:avLst/>
          </a:prstGeom>
          <a:solidFill>
            <a:srgbClr val="704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578608" y="3410712"/>
            <a:ext cx="256032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4142B"/>
                </a:solidFill>
                <a:latin typeface="Arial"/>
              </a:rPr>
              <a:t>Llama 3.1 8B + Ollama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74920" y="3410712"/>
            <a:ext cx="525780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Arial"/>
              </a:rPr>
              <a:t>Local generation for abstract / policy reasoning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68680" y="4023360"/>
            <a:ext cx="1508760" cy="292608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RETRIEVAL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578608" y="4014216"/>
            <a:ext cx="256032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4142B"/>
                </a:solidFill>
                <a:latin typeface="Arial"/>
              </a:rPr>
              <a:t>Custom in-memory vector engine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074920" y="4014216"/>
            <a:ext cx="525780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Arial"/>
              </a:rPr>
              <a:t>Chunk management + cosine similarity embeddings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68680" y="4626864"/>
            <a:ext cx="1508760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GROUNDING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578608" y="4617720"/>
            <a:ext cx="256032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4142B"/>
                </a:solidFill>
                <a:latin typeface="Arial"/>
              </a:rPr>
              <a:t>Regex + exact token overlap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074920" y="4617720"/>
            <a:ext cx="525780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Arial"/>
              </a:rPr>
              <a:t>Deterministic extraction and hard-number validation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68680" y="5376672"/>
            <a:ext cx="99669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4142B"/>
                </a:solidFill>
                <a:latin typeface="Arial"/>
              </a:rPr>
              <a:t>Architecture principle: use the LLM where language is useful; use deterministic logic where precision matters.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Impact &amp; Use Cases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68680" y="1874519"/>
            <a:ext cx="2788920" cy="1417320"/>
          </a:xfrm>
          <a:prstGeom prst="roundRect">
            <a:avLst/>
          </a:prstGeom>
          <a:solidFill>
            <a:srgbClr val="F4F0FA"/>
          </a:solidFill>
          <a:ln w="12700">
            <a:solidFill>
              <a:srgbClr val="704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04EA6"/>
                </a:solidFill>
                <a:latin typeface="Arial"/>
              </a:rPr>
              <a:t>UP TO</a:t>
            </a:r>
          </a:p>
          <a:p>
            <a:pPr>
              <a:spcAft>
                <a:spcPts val="400"/>
              </a:spcAft>
            </a:pPr>
            <a:r>
              <a:rPr sz="3100" b="1">
                <a:solidFill>
                  <a:srgbClr val="6D28D9"/>
                </a:solidFill>
                <a:latin typeface="Arial"/>
              </a:rPr>
              <a:t>80%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lower API cost / compute overhead per refinement by reusing unchanged claims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931920" y="1874519"/>
            <a:ext cx="69037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CORPORATE TRAVEL &amp; EVENTS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Capacity, pricing and policy questions without mixing facts.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931920" y="2880360"/>
            <a:ext cx="69037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F766E"/>
                </a:solidFill>
                <a:latin typeface="Arial"/>
              </a:rPr>
              <a:t>HR &amp; COMPLIANCE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Multi-intent policy + expense questions with grounded claims.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931920" y="3886200"/>
            <a:ext cx="69037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CUSTOMER SUPPORT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Retrieve while the customer is still talking on the phone.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" y="4590288"/>
            <a:ext cx="9966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704EA6"/>
                </a:solidFill>
                <a:latin typeface="Arial"/>
              </a:rPr>
              <a:t>WHY IT MATTERS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4846320"/>
            <a:ext cx="99669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4142B"/>
                </a:solidFill>
                <a:latin typeface="Arial"/>
              </a:rPr>
              <a:t>Faster answers are only part of the value: Aegis reduces rework, isolates evidence, and makes uncertainty explicit.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68680" y="5468112"/>
            <a:ext cx="1828800" cy="292608"/>
          </a:xfrm>
          <a:prstGeom prst="roundRect">
            <a:avLst/>
          </a:prstGeom>
          <a:solidFill>
            <a:srgbClr val="704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LOWER REWORK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834640" y="5468112"/>
            <a:ext cx="1828800" cy="292608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BETTER GROUNDING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800600" y="5468112"/>
            <a:ext cx="182880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REAL-TIME UX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Innovation Highlights, Results &amp;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868680" y="1874519"/>
            <a:ext cx="306324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6D28D9"/>
                </a:solidFill>
                <a:latin typeface="Arial"/>
              </a:rPr>
              <a:t>11 ms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142B"/>
                </a:solidFill>
                <a:latin typeface="Arial"/>
              </a:rPr>
              <a:t>TTFT on refine turns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63637E"/>
                </a:solidFill>
                <a:latin typeface="Arial"/>
              </a:rPr>
              <a:t>Delta patching skips full LLM regeneration.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206240" y="1874519"/>
            <a:ext cx="306324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0F766E"/>
                </a:solidFill>
                <a:latin typeface="Arial"/>
              </a:rPr>
              <a:t>0%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142B"/>
                </a:solidFill>
                <a:latin typeface="Arial"/>
              </a:rPr>
              <a:t>reported hard-number hallucination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63637E"/>
                </a:solidFill>
                <a:latin typeface="Arial"/>
              </a:rPr>
              <a:t>Numeric constraints are routed to deterministic solvers.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543800" y="1874519"/>
            <a:ext cx="306324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2563EB"/>
                </a:solidFill>
                <a:latin typeface="Arial"/>
              </a:rPr>
              <a:t>ISOLATED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142B"/>
                </a:solidFill>
                <a:latin typeface="Arial"/>
              </a:rPr>
              <a:t>LLM contexts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63637E"/>
                </a:solidFill>
                <a:latin typeface="Arial"/>
              </a:rPr>
              <a:t>Each subquery receives only its own evidence.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68680" y="3675887"/>
            <a:ext cx="48920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A580C"/>
                </a:solidFill>
                <a:latin typeface="Arial"/>
              </a:rPr>
              <a:t>LIMITATION 01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4142B"/>
                </a:solidFill>
                <a:latin typeface="Arial"/>
              </a:rPr>
              <a:t>Local-model concurrency can spike TTFT to 200+ seconds.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Mitigation: aggressively prioritize sequential LLM queuing.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989320" y="3675887"/>
            <a:ext cx="48920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EA580C"/>
                </a:solidFill>
                <a:latin typeface="Arial"/>
              </a:rPr>
              <a:t>LIMITATION 02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4142B"/>
                </a:solidFill>
                <a:latin typeface="Arial"/>
              </a:rPr>
              <a:t>Speculative retrieval can lock onto a flawed context if speech pauses before a critical noun.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Mitigation: bypass speculative results on refine turns.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What's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868680" y="1755648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704EA6"/>
                </a:solidFill>
                <a:latin typeface="Arial"/>
              </a:rPr>
              <a:t>ROADMAP: FROM LOCAL HYBRID RAG → PREDICTIVE, ROUTED KNOWLEDGE SYSTEM</a:t>
            </a:r>
          </a:p>
        </p:txBody>
      </p:sp>
      <p:sp>
        <p:nvSpPr>
          <p:cNvPr id="145" name="Oval 144"/>
          <p:cNvSpPr/>
          <p:nvPr/>
        </p:nvSpPr>
        <p:spPr>
          <a:xfrm>
            <a:off x="969263" y="2386584"/>
            <a:ext cx="201168" cy="20116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252728" y="2313432"/>
            <a:ext cx="2377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Arial"/>
              </a:rPr>
              <a:t>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68680" y="2761488"/>
            <a:ext cx="2971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4142B"/>
                </a:solidFill>
                <a:latin typeface="Arial"/>
              </a:rPr>
              <a:t>DYNAMIC MODEL ROUTING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68680" y="3310128"/>
            <a:ext cx="29718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Arial"/>
              </a:rPr>
              <a:t>Frontier models for complex reasoning; local edge models for simple extraction.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3813048" y="2487168"/>
            <a:ext cx="301752" cy="0"/>
          </a:xfrm>
          <a:prstGeom prst="line">
            <a:avLst/>
          </a:prstGeom>
          <a:ln w="12700">
            <a:solidFill>
              <a:srgbClr val="E1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Oval 149"/>
          <p:cNvSpPr/>
          <p:nvPr/>
        </p:nvSpPr>
        <p:spPr>
          <a:xfrm>
            <a:off x="4306823" y="2386584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590288" y="2313432"/>
            <a:ext cx="2377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Arial"/>
              </a:rPr>
              <a:t>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206240" y="2761488"/>
            <a:ext cx="2971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4142B"/>
                </a:solidFill>
                <a:latin typeface="Arial"/>
              </a:rPr>
              <a:t>PREDICTIVE SPECULATION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06240" y="3310128"/>
            <a:ext cx="29718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Arial"/>
              </a:rPr>
              <a:t>Small language models predict sentence endings and pre-fetch likely chunks.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7150608" y="2487168"/>
            <a:ext cx="301751" cy="0"/>
          </a:xfrm>
          <a:prstGeom prst="line">
            <a:avLst/>
          </a:prstGeom>
          <a:ln w="12700">
            <a:solidFill>
              <a:srgbClr val="E1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Oval 154"/>
          <p:cNvSpPr/>
          <p:nvPr/>
        </p:nvSpPr>
        <p:spPr>
          <a:xfrm>
            <a:off x="7644384" y="2386584"/>
            <a:ext cx="201168" cy="201168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927848" y="2313432"/>
            <a:ext cx="2377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rial"/>
              </a:rPr>
              <a:t>03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543800" y="2761488"/>
            <a:ext cx="29718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4142B"/>
                </a:solidFill>
                <a:latin typeface="Arial"/>
              </a:rPr>
              <a:t>KNOWLEDGE GRAPH INTEGRATION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543800" y="3310128"/>
            <a:ext cx="29718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Arial"/>
              </a:rPr>
              <a:t>Extend deterministic reasoning to graph relationships and localized policies.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68680" y="4617720"/>
            <a:ext cx="10012680" cy="731520"/>
          </a:xfrm>
          <a:prstGeom prst="roundRect">
            <a:avLst/>
          </a:prstGeom>
          <a:solidFill>
            <a:srgbClr val="F4F0FA"/>
          </a:solidFill>
          <a:ln w="12700">
            <a:solidFill>
              <a:srgbClr val="704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704EA6"/>
                </a:solidFill>
                <a:latin typeface="Arial"/>
              </a:rPr>
              <a:t>NORTH STAR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  <a:latin typeface="Arial"/>
              </a:rPr>
              <a:t>Make retrieval predictive, reasoning specialized, and knowledge continuously reusable across turns.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Brownie Points — Differentiation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868680" y="1755648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704EA6"/>
                </a:solidFill>
                <a:latin typeface="Arial"/>
              </a:rPr>
              <a:t>THE KEY SHIFT: FROM A STATELESS RAG CHAIN TO A STATEFUL CLAIM PROCESSOR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68680" y="2212848"/>
            <a:ext cx="4526280" cy="2423160"/>
          </a:xfrm>
          <a:prstGeom prst="roundRect">
            <a:avLst/>
          </a:prstGeom>
          <a:solidFill>
            <a:srgbClr val="F8F8FB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63637E"/>
                </a:solidFill>
                <a:latin typeface="Arial"/>
              </a:rPr>
              <a:t>MOST RAG</a:t>
            </a:r>
          </a:p>
          <a:p>
            <a:pPr>
              <a:spcAft>
                <a:spcPts val="400"/>
              </a:spcAft>
            </a:pPr>
            <a:r>
              <a:rPr sz="1900" b="1">
                <a:solidFill>
                  <a:srgbClr val="14142B"/>
                </a:solidFill>
                <a:latin typeface="Arial"/>
              </a:rPr>
              <a:t>Query → retrieve → prompt → generate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3637E"/>
                </a:solidFill>
                <a:latin typeface="Arial"/>
              </a:rPr>
              <a:t>Every refinement tends to restart the pipeline.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3637E"/>
                </a:solidFill>
                <a:latin typeface="Arial"/>
              </a:rPr>
              <a:t>LLM handles both language and exact numbers.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23560" y="2212848"/>
            <a:ext cx="5257800" cy="2423160"/>
          </a:xfrm>
          <a:prstGeom prst="roundRect">
            <a:avLst/>
          </a:prstGeom>
          <a:solidFill>
            <a:srgbClr val="F4F0FA"/>
          </a:solidFill>
          <a:ln w="12700">
            <a:solidFill>
              <a:srgbClr val="704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704EA6"/>
                </a:solidFill>
                <a:latin typeface="Arial"/>
              </a:rPr>
              <a:t>AEGIS</a:t>
            </a:r>
          </a:p>
          <a:p>
            <a:pPr>
              <a:spcAft>
                <a:spcPts val="400"/>
              </a:spcAft>
            </a:pPr>
            <a:r>
              <a:rPr sz="1900" b="1">
                <a:solidFill>
                  <a:srgbClr val="6D28D9"/>
                </a:solidFill>
                <a:latin typeface="Arial"/>
              </a:rPr>
              <a:t>Claims → state → semantic diff → surgical patch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3637E"/>
                </a:solidFill>
                <a:latin typeface="Arial"/>
              </a:rPr>
              <a:t>Unchanged evidence stays alive across turns.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3637E"/>
                </a:solidFill>
                <a:latin typeface="Arial"/>
              </a:rPr>
              <a:t>LLM handles abstraction; deterministic logic handles math.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68680" y="4892040"/>
            <a:ext cx="99669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4142B"/>
                </a:solidFill>
                <a:latin typeface="Arial"/>
              </a:rPr>
              <a:t>Aegis treats knowledge as a stateful, compiled object — not just retrieved text handed to an LLM.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36576" lIns="36576" spcFirstLastPara="1" rIns="36576" wrap="square" tIns="36576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</a:rPr>
              <a:t>Checklist — Submission Readiness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868680" y="2057400"/>
            <a:ext cx="47091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66534"/>
                </a:solidFill>
                <a:latin typeface="Arial"/>
              </a:rPr>
              <a:t>01  WORKING PROTOTYPE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Architecture, retrieval, synthesis, refinement and grounding flow documented in the project report.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943600" y="2057400"/>
            <a:ext cx="47091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66534"/>
                </a:solidFill>
                <a:latin typeface="Arial"/>
              </a:rPr>
              <a:t>02  REPRODUCIBLE STACK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Python / Asyncio • FastAPI / Uvicorn • Ollama • custom vector engine • deterministic grounding.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68680" y="3474720"/>
            <a:ext cx="47091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03  DEMO VIDEO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Link not provided in the project report — add before submission.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943600" y="3474720"/>
            <a:ext cx="47091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04  PUBLIC / SHARED GITHUB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3637E"/>
                </a:solidFill>
                <a:latin typeface="Arial"/>
              </a:rPr>
              <a:t>Link not provided in the project report — add before submission.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" y="5074920"/>
            <a:ext cx="99669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4142B"/>
                </a:solidFill>
                <a:latin typeface="Arial"/>
              </a:rPr>
              <a:t>Submission hygiene: replace the two orange placeholders with the actual links before sending the deck.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617720"/>
            <a:ext cx="67665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704EA6"/>
                </a:solidFill>
                <a:latin typeface="Arial"/>
              </a:rPr>
              <a:t>AEGIS  •  STREAMING LIVE RAG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42415" y="5010912"/>
            <a:ext cx="7955279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3637E"/>
                </a:solidFill>
                <a:latin typeface="Arial"/>
              </a:rPr>
              <a:t>Search while the user speaks. Patch only what changed. Keep every claim grounded.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