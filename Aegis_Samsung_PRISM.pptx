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EE7E2B"/>
    <a:srgbClr val="DDD6CF"/>
    <a:srgbClr val="6F45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87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1YE5tzn1XtS09P18pabqhoy7KuI7gPUi/view?usp=sharing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1YE5tzn1XtS09P18pabqhoy7KuI7gPUi/view?usp=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 dirty="0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09600" y="3589020"/>
            <a:ext cx="6461760" cy="2034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marR="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Arial" panose="020B0604020202020204" pitchFamily="34" charset="0"/>
              <a:buChar char="•"/>
              <a:defRPr sz="850">
                <a:solidFill>
                  <a:srgbClr val="5E5F7D"/>
                </a:solidFill>
                <a:latin typeface="Aptos"/>
              </a:defRPr>
            </a:pPr>
            <a:r>
              <a:rPr sz="1500" dirty="0"/>
              <a:t>Theme ID </a:t>
            </a:r>
            <a:r>
              <a:rPr lang="en-IN" sz="1500" dirty="0"/>
              <a:t>-</a:t>
            </a:r>
            <a:r>
              <a:rPr sz="1500" dirty="0"/>
              <a:t> Streaming Live RAG 04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850">
                <a:solidFill>
                  <a:srgbClr val="5E5F7D"/>
                </a:solidFill>
                <a:latin typeface="Aptos"/>
              </a:defRPr>
            </a:pPr>
            <a:r>
              <a:rPr sz="1500" dirty="0"/>
              <a:t>Team Name </a:t>
            </a:r>
            <a:r>
              <a:rPr lang="en-IN" sz="1500" dirty="0"/>
              <a:t>-</a:t>
            </a:r>
            <a:r>
              <a:rPr sz="1500" dirty="0"/>
              <a:t> </a:t>
            </a:r>
            <a:r>
              <a:rPr sz="1500" dirty="0" err="1"/>
              <a:t>ThaparInstituteOfEngineeringAndTechnology_TheMeowfias</a:t>
            </a:r>
            <a:endParaRPr sz="15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850">
                <a:solidFill>
                  <a:srgbClr val="5E5F7D"/>
                </a:solidFill>
                <a:latin typeface="Aptos"/>
              </a:defRPr>
            </a:pPr>
            <a:r>
              <a:rPr sz="1500" dirty="0"/>
              <a:t>Project / Product </a:t>
            </a:r>
            <a:r>
              <a:rPr lang="en-IN" sz="1500" dirty="0"/>
              <a:t>-</a:t>
            </a:r>
            <a:r>
              <a:rPr sz="1500" dirty="0"/>
              <a:t> Aegis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850">
                <a:solidFill>
                  <a:srgbClr val="5E5F7D"/>
                </a:solidFill>
                <a:latin typeface="Aptos"/>
              </a:defRPr>
            </a:pPr>
            <a:r>
              <a:rPr sz="1500" dirty="0"/>
              <a:t>College Name </a:t>
            </a:r>
            <a:r>
              <a:rPr lang="en-IN" sz="1500" dirty="0"/>
              <a:t>-</a:t>
            </a:r>
            <a:r>
              <a:rPr sz="1500" dirty="0"/>
              <a:t> Thapar Institute of Engineering and Technology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850">
                <a:solidFill>
                  <a:srgbClr val="5E5F7D"/>
                </a:solidFill>
                <a:latin typeface="Aptos"/>
              </a:defRPr>
            </a:pPr>
            <a:r>
              <a:rPr sz="1500" dirty="0"/>
              <a:t>Member </a:t>
            </a:r>
            <a:r>
              <a:rPr lang="en-IN" sz="1500" dirty="0"/>
              <a:t>Name &amp; Email </a:t>
            </a:r>
            <a:r>
              <a:rPr sz="1500" dirty="0"/>
              <a:t>1 </a:t>
            </a:r>
            <a:r>
              <a:rPr lang="en-IN" sz="1500" dirty="0"/>
              <a:t>-</a:t>
            </a:r>
            <a:r>
              <a:rPr sz="1500" dirty="0"/>
              <a:t> Naman Kumar</a:t>
            </a:r>
            <a:r>
              <a:rPr lang="en-IN" sz="1500" dirty="0"/>
              <a:t> (nkumar1_be23@thapar.edu)</a:t>
            </a:r>
            <a:endParaRPr sz="15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850">
                <a:solidFill>
                  <a:srgbClr val="5E5F7D"/>
                </a:solidFill>
                <a:latin typeface="Aptos"/>
              </a:defRPr>
            </a:pPr>
            <a:r>
              <a:rPr sz="1500" dirty="0"/>
              <a:t>Member </a:t>
            </a:r>
            <a:r>
              <a:rPr lang="en-IN" sz="1500" dirty="0"/>
              <a:t>Name  &amp; Email </a:t>
            </a:r>
            <a:r>
              <a:rPr sz="1500" dirty="0"/>
              <a:t>2 </a:t>
            </a:r>
            <a:r>
              <a:rPr lang="en-IN" sz="1500" dirty="0"/>
              <a:t>–</a:t>
            </a:r>
            <a:r>
              <a:rPr sz="1500" dirty="0"/>
              <a:t> </a:t>
            </a:r>
            <a:r>
              <a:rPr sz="1500" dirty="0" err="1"/>
              <a:t>Samairaa</a:t>
            </a:r>
            <a:r>
              <a:rPr lang="en-IN" sz="1500" dirty="0"/>
              <a:t> Chhabra (schhabra_be23@thapar.edu)</a:t>
            </a:r>
            <a:endParaRPr sz="1500" dirty="0"/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850">
                <a:solidFill>
                  <a:srgbClr val="5E5F7D"/>
                </a:solidFill>
                <a:latin typeface="Aptos"/>
              </a:defRPr>
            </a:pPr>
            <a:r>
              <a:rPr sz="1500" dirty="0"/>
              <a:t>Submission</a:t>
            </a:r>
            <a:r>
              <a:rPr lang="en-IN" sz="1500" dirty="0"/>
              <a:t> </a:t>
            </a:r>
            <a:r>
              <a:rPr lang="en-IN" sz="1500" dirty="0" err="1"/>
              <a:t>Github</a:t>
            </a:r>
            <a:r>
              <a:rPr lang="en-IN" sz="1500" dirty="0"/>
              <a:t> Link - https://github.com/GithubNaman259/Samsung-Prism-Aegis-Streaming-Live-RAG</a:t>
            </a:r>
            <a:endParaRPr sz="1500" dirty="0"/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 dirty="0"/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 dirty="0">
                <a:solidFill>
                  <a:schemeClr val="bg1"/>
                </a:solidFill>
              </a:rPr>
              <a:t>a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938784" y="1647429"/>
            <a:ext cx="2707640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 dirty="0">
                <a:solidFill>
                  <a:srgbClr val="6F45B8"/>
                </a:solidFill>
                <a:latin typeface="Aptos"/>
              </a:rPr>
              <a:t>THE CORE IDEA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04240" y="2364295"/>
            <a:ext cx="4572000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dirty="0">
                <a:solidFill>
                  <a:srgbClr val="6F45B8"/>
                </a:solidFill>
                <a:latin typeface="Aptos"/>
              </a:rPr>
              <a:t>Search before the user finishes speaking.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934212" y="3081147"/>
            <a:ext cx="45720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dirty="0">
                <a:solidFill>
                  <a:srgbClr val="6F45B8"/>
                </a:solidFill>
                <a:latin typeface="Aptos"/>
              </a:rPr>
              <a:t>Then patch only what changed.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34212" y="3860144"/>
            <a:ext cx="4539996" cy="7663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500" b="1" dirty="0">
                <a:solidFill>
                  <a:srgbClr val="5E5F7D"/>
                </a:solidFill>
                <a:latin typeface="Aptos"/>
              </a:rPr>
              <a:t>Aegis turns RAG from a stateless </a:t>
            </a:r>
            <a:r>
              <a:rPr sz="1500" b="1" dirty="0" err="1">
                <a:solidFill>
                  <a:srgbClr val="5E5F7D"/>
                </a:solidFill>
                <a:latin typeface="Aptos"/>
              </a:rPr>
              <a:t>retrieve→generate</a:t>
            </a:r>
            <a:r>
              <a:rPr sz="1500" b="1" dirty="0">
                <a:solidFill>
                  <a:srgbClr val="5E5F7D"/>
                </a:solidFill>
                <a:latin typeface="Aptos"/>
              </a:rPr>
              <a:t> chain into a stateful claim processor for streaming voice and conversational refinement.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1044956" y="4907947"/>
            <a:ext cx="960120" cy="246888"/>
          </a:xfrm>
          <a:prstGeom prst="round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1044956" y="4917091"/>
            <a:ext cx="96012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STREAMING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2142236" y="4907947"/>
            <a:ext cx="960120" cy="246888"/>
          </a:xfrm>
          <a:prstGeom prst="roundRect">
            <a:avLst/>
          </a:prstGeom>
          <a:solidFill>
            <a:srgbClr val="2D6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2142236" y="4917091"/>
            <a:ext cx="96012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STATEFUL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3221228" y="4907947"/>
            <a:ext cx="868680" cy="246888"/>
          </a:xfrm>
          <a:prstGeom prst="roundRect">
            <a:avLst/>
          </a:prstGeom>
          <a:solidFill>
            <a:srgbClr val="11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221228" y="4917091"/>
            <a:ext cx="86868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HYBRID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4199636" y="4907947"/>
            <a:ext cx="960120" cy="246888"/>
          </a:xfrm>
          <a:prstGeom prst="roundRect">
            <a:avLst/>
          </a:prstGeom>
          <a:solidFill>
            <a:srgbClr val="EE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4199636" y="4917091"/>
            <a:ext cx="96012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GROUNDED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096000" y="1874614"/>
            <a:ext cx="2148840" cy="1417320"/>
          </a:xfrm>
          <a:prstGeom prst="roundRect">
            <a:avLst/>
          </a:prstGeom>
          <a:solidFill>
            <a:srgbClr val="F6F2FC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6096000" y="1874614"/>
            <a:ext cx="50292" cy="1417320"/>
          </a:xfrm>
          <a:prstGeom prst="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6224016" y="1966054"/>
            <a:ext cx="1929384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1">
                <a:solidFill>
                  <a:srgbClr val="6F45B8"/>
                </a:solidFill>
                <a:latin typeface="Aptos"/>
              </a:rPr>
              <a:t>TRADITIONAL RAG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224016" y="2258662"/>
            <a:ext cx="19202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0">
                <a:solidFill>
                  <a:srgbClr val="5E5F7D"/>
                </a:solidFill>
                <a:latin typeface="Aptos"/>
              </a:rPr>
              <a:t>wait → retrieve → generate
Latency arrives after speech ends.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8446008" y="1874614"/>
            <a:ext cx="2148840" cy="1417320"/>
          </a:xfrm>
          <a:prstGeom prst="roundRect">
            <a:avLst/>
          </a:prstGeom>
          <a:solidFill>
            <a:srgbClr val="F1F6F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8446008" y="1874614"/>
            <a:ext cx="50292" cy="1417320"/>
          </a:xfrm>
          <a:prstGeom prst="rect">
            <a:avLst/>
          </a:prstGeom>
          <a:solidFill>
            <a:srgbClr val="2D6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8574024" y="1966054"/>
            <a:ext cx="1929384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1">
                <a:solidFill>
                  <a:srgbClr val="2D68F2"/>
                </a:solidFill>
                <a:latin typeface="Aptos"/>
              </a:rPr>
              <a:t>AEGIS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574024" y="2258662"/>
            <a:ext cx="1920240" cy="9601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0">
                <a:solidFill>
                  <a:srgbClr val="5E5F7D"/>
                </a:solidFill>
                <a:latin typeface="Aptos"/>
              </a:rPr>
              <a:t>listen → speculate → patch
Work begins before the turn is complete.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574792" y="3813112"/>
            <a:ext cx="1325880" cy="960120"/>
          </a:xfrm>
          <a:prstGeom prst="roundRect">
            <a:avLst/>
          </a:prstGeom>
          <a:solidFill>
            <a:srgbClr val="F6F2FC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5574792" y="3813112"/>
            <a:ext cx="50292" cy="960120"/>
          </a:xfrm>
          <a:prstGeom prst="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5702808" y="3904552"/>
            <a:ext cx="1106424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1">
                <a:solidFill>
                  <a:srgbClr val="6F45B8"/>
                </a:solidFill>
                <a:latin typeface="Aptos"/>
              </a:rPr>
              <a:t>01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702808" y="4197160"/>
            <a:ext cx="1097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0">
                <a:solidFill>
                  <a:srgbClr val="5E5F7D"/>
                </a:solidFill>
                <a:latin typeface="Aptos"/>
              </a:rPr>
              <a:t>Speculate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037832" y="3813112"/>
            <a:ext cx="1325880" cy="960120"/>
          </a:xfrm>
          <a:prstGeom prst="roundRect">
            <a:avLst/>
          </a:prstGeom>
          <a:solidFill>
            <a:srgbClr val="F1F6F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7037832" y="3813112"/>
            <a:ext cx="50292" cy="960120"/>
          </a:xfrm>
          <a:prstGeom prst="rect">
            <a:avLst/>
          </a:prstGeom>
          <a:solidFill>
            <a:srgbClr val="2D6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7165848" y="3904552"/>
            <a:ext cx="1106424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1">
                <a:solidFill>
                  <a:srgbClr val="2D68F2"/>
                </a:solidFill>
                <a:latin typeface="Aptos"/>
              </a:rPr>
              <a:t>02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7165848" y="4197160"/>
            <a:ext cx="1097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0">
                <a:solidFill>
                  <a:srgbClr val="5E5F7D"/>
                </a:solidFill>
                <a:latin typeface="Aptos"/>
              </a:rPr>
              <a:t>Decompose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500872" y="3813112"/>
            <a:ext cx="1325880" cy="960120"/>
          </a:xfrm>
          <a:prstGeom prst="roundRect">
            <a:avLst/>
          </a:prstGeom>
          <a:solidFill>
            <a:srgbClr val="F0FAF8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8500872" y="3813112"/>
            <a:ext cx="50292" cy="960120"/>
          </a:xfrm>
          <a:prstGeom prst="rect">
            <a:avLst/>
          </a:prstGeom>
          <a:solidFill>
            <a:srgbClr val="11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8628888" y="3904552"/>
            <a:ext cx="1106424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1">
                <a:solidFill>
                  <a:srgbClr val="11A094"/>
                </a:solidFill>
                <a:latin typeface="Aptos"/>
              </a:rPr>
              <a:t>03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628888" y="4197160"/>
            <a:ext cx="1097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0">
                <a:solidFill>
                  <a:srgbClr val="5E5F7D"/>
                </a:solidFill>
                <a:latin typeface="Aptos"/>
              </a:rPr>
              <a:t>Synthesize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9963912" y="3813112"/>
            <a:ext cx="1325880" cy="960120"/>
          </a:xfrm>
          <a:prstGeom prst="roundRect">
            <a:avLst/>
          </a:prstGeom>
          <a:solidFill>
            <a:srgbClr val="FFF7E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9963912" y="3813112"/>
            <a:ext cx="50292" cy="960120"/>
          </a:xfrm>
          <a:prstGeom prst="rect">
            <a:avLst/>
          </a:prstGeom>
          <a:solidFill>
            <a:srgbClr val="EE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10091928" y="3904552"/>
            <a:ext cx="1106424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1">
                <a:solidFill>
                  <a:srgbClr val="EE7E2B"/>
                </a:solidFill>
                <a:latin typeface="Aptos"/>
              </a:rPr>
              <a:t>04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91928" y="4197160"/>
            <a:ext cx="109728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b="0">
                <a:solidFill>
                  <a:srgbClr val="5E5F7D"/>
                </a:solidFill>
                <a:latin typeface="Aptos"/>
              </a:rPr>
              <a:t>Patch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650230" y="5031391"/>
            <a:ext cx="5669280" cy="6858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300" b="1" dirty="0">
                <a:solidFill>
                  <a:srgbClr val="1F1F33"/>
                </a:solidFill>
                <a:latin typeface="Aptos"/>
              </a:rPr>
              <a:t>The result: lower refine-turn latency, less repeated retrieval, and explicit claim-level grounding.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2582926" y="1727264"/>
            <a:ext cx="7026148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 dirty="0">
                <a:solidFill>
                  <a:srgbClr val="6F45B8"/>
                </a:solidFill>
                <a:latin typeface="Aptos"/>
              </a:rPr>
              <a:t>WHY NAIVE RAG BREAKS WHEN CONVERSATION BECOMES REAL-TIME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02920" y="2354104"/>
            <a:ext cx="2578608" cy="1965960"/>
          </a:xfrm>
          <a:prstGeom prst="roundRect">
            <a:avLst/>
          </a:prstGeom>
          <a:solidFill>
            <a:srgbClr val="F6F2FC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502920" y="2354104"/>
            <a:ext cx="50292" cy="1965960"/>
          </a:xfrm>
          <a:prstGeom prst="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630936" y="2445544"/>
            <a:ext cx="235915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1">
                <a:solidFill>
                  <a:srgbClr val="6F45B8"/>
                </a:solidFill>
                <a:latin typeface="Aptos"/>
              </a:rPr>
              <a:t>01  LATENCY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0936" y="2738152"/>
            <a:ext cx="2350008" cy="93564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>
                <a:solidFill>
                  <a:srgbClr val="5E5F7D"/>
                </a:solidFill>
                <a:latin typeface="Aptos"/>
              </a:rPr>
              <a:t>3–5 s delay
Waits for utterance_end before retrieval + generation.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3355848" y="2354104"/>
            <a:ext cx="2578608" cy="1965960"/>
          </a:xfrm>
          <a:prstGeom prst="roundRect">
            <a:avLst/>
          </a:prstGeom>
          <a:solidFill>
            <a:srgbClr val="F1F6F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3355848" y="2354104"/>
            <a:ext cx="50292" cy="1965960"/>
          </a:xfrm>
          <a:prstGeom prst="rect">
            <a:avLst/>
          </a:prstGeom>
          <a:solidFill>
            <a:srgbClr val="2D6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483864" y="2445544"/>
            <a:ext cx="235915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1">
                <a:solidFill>
                  <a:srgbClr val="2D68F2"/>
                </a:solidFill>
                <a:latin typeface="Aptos"/>
              </a:rPr>
              <a:t>02  MULTI-INTENT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483864" y="2738152"/>
            <a:ext cx="2350008" cy="11510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>
                <a:solidFill>
                  <a:srgbClr val="5E5F7D"/>
                </a:solidFill>
                <a:latin typeface="Aptos"/>
              </a:rPr>
              <a:t>context dilution
Top-k chunks mix unrelated intents; claims become entangled.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208776" y="2354104"/>
            <a:ext cx="2578608" cy="1965960"/>
          </a:xfrm>
          <a:prstGeom prst="roundRect">
            <a:avLst/>
          </a:prstGeom>
          <a:solidFill>
            <a:srgbClr val="F0FAF8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6208776" y="2354104"/>
            <a:ext cx="50292" cy="1965960"/>
          </a:xfrm>
          <a:prstGeom prst="rect">
            <a:avLst/>
          </a:prstGeom>
          <a:solidFill>
            <a:srgbClr val="11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336792" y="2445544"/>
            <a:ext cx="235915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1">
                <a:solidFill>
                  <a:srgbClr val="11A094"/>
                </a:solidFill>
                <a:latin typeface="Aptos"/>
              </a:rPr>
              <a:t>03  LATE CONSTRAINTS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336792" y="2738152"/>
            <a:ext cx="2350008" cy="93564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>
                <a:solidFill>
                  <a:srgbClr val="5E5F7D"/>
                </a:solidFill>
                <a:latin typeface="Aptos"/>
              </a:rPr>
              <a:t>restart the pipeline
“Actually, 500 people” can trigger a full re-run.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061704" y="2354104"/>
            <a:ext cx="2578608" cy="1965960"/>
          </a:xfrm>
          <a:prstGeom prst="roundRect">
            <a:avLst/>
          </a:prstGeom>
          <a:solidFill>
            <a:srgbClr val="FFF7E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9061704" y="2354104"/>
            <a:ext cx="50292" cy="1965960"/>
          </a:xfrm>
          <a:prstGeom prst="rect">
            <a:avLst/>
          </a:prstGeom>
          <a:solidFill>
            <a:srgbClr val="EE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9189720" y="2445544"/>
            <a:ext cx="2359152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1">
                <a:solidFill>
                  <a:srgbClr val="EE7E2B"/>
                </a:solidFill>
                <a:latin typeface="Aptos"/>
              </a:rPr>
              <a:t>04  NUMERIC FACTS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189720" y="2738152"/>
            <a:ext cx="2350008" cy="93564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>
                <a:solidFill>
                  <a:srgbClr val="5E5F7D"/>
                </a:solidFill>
                <a:latin typeface="Aptos"/>
              </a:rPr>
              <a:t>LLMs are not calculators
Capacity / fee / limit values need deterministic handling.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0888" y="4735604"/>
            <a:ext cx="1118616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dirty="0">
                <a:solidFill>
                  <a:srgbClr val="1F1F33"/>
                </a:solidFill>
                <a:latin typeface="Aptos"/>
              </a:rPr>
              <a:t>Design requirement → latency must overlap with intent processing; intents must stay isolated; refinements must be surgical; hard numbers must bypass probabilistic generation.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081528" y="5779008"/>
            <a:ext cx="1417320" cy="246888"/>
          </a:xfrm>
          <a:prstGeom prst="round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3081528" y="5788152"/>
            <a:ext cx="141732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OVERLAP WORK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4681728" y="5779008"/>
            <a:ext cx="1417320" cy="246888"/>
          </a:xfrm>
          <a:prstGeom prst="roundRect">
            <a:avLst/>
          </a:prstGeom>
          <a:solidFill>
            <a:srgbClr val="2D6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4681728" y="5788152"/>
            <a:ext cx="141732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ISOLATE INTENTS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281928" y="5779008"/>
            <a:ext cx="1417320" cy="246888"/>
          </a:xfrm>
          <a:prstGeom prst="roundRect">
            <a:avLst/>
          </a:prstGeom>
          <a:solidFill>
            <a:srgbClr val="11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281928" y="5788152"/>
            <a:ext cx="141732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PATCH STATE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7882128" y="5779008"/>
            <a:ext cx="1417320" cy="246888"/>
          </a:xfrm>
          <a:prstGeom prst="roundRect">
            <a:avLst/>
          </a:prstGeom>
          <a:solidFill>
            <a:srgbClr val="EE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7882128" y="5788152"/>
            <a:ext cx="1417320" cy="2103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SOLVE NUMBERS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562855" y="1407098"/>
            <a:ext cx="7030213" cy="6894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dirty="0">
                <a:solidFill>
                  <a:srgbClr val="6F45B8"/>
                </a:solidFill>
                <a:latin typeface="Aptos"/>
              </a:rPr>
              <a:t>AEGIS = REAL-TIME CONTROLLER + RETRIEVAL ENGINE + HYBRID SYNTHESIS + TRUST BOUNDARY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4737999" y="2417230"/>
            <a:ext cx="2487168" cy="1028192"/>
          </a:xfrm>
          <a:prstGeom prst="roundRect">
            <a:avLst/>
          </a:prstGeom>
          <a:solidFill>
            <a:srgbClr val="F6F2FC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4737998" y="2417230"/>
            <a:ext cx="77813" cy="1028192"/>
          </a:xfrm>
          <a:prstGeom prst="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4866015" y="2508670"/>
            <a:ext cx="22677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>
                <a:solidFill>
                  <a:srgbClr val="6F45B8"/>
                </a:solidFill>
                <a:latin typeface="Aptos"/>
              </a:rPr>
              <a:t>INPUT / CONTROL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4866015" y="2774030"/>
            <a:ext cx="2258568" cy="1783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dirty="0">
                <a:solidFill>
                  <a:srgbClr val="5E5F7D"/>
                </a:solidFill>
                <a:latin typeface="Aptos"/>
              </a:rPr>
              <a:t>User voice / text
Audio-text buffer
Speculative trigger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8701298" y="2304796"/>
            <a:ext cx="2487168" cy="1124204"/>
          </a:xfrm>
          <a:prstGeom prst="roundRect">
            <a:avLst/>
          </a:prstGeom>
          <a:solidFill>
            <a:srgbClr val="F1F6F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8669206" y="2349794"/>
            <a:ext cx="86956" cy="1110488"/>
          </a:xfrm>
          <a:prstGeom prst="rect">
            <a:avLst/>
          </a:prstGeom>
          <a:solidFill>
            <a:srgbClr val="2D6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8811026" y="2419837"/>
            <a:ext cx="22677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dirty="0">
                <a:solidFill>
                  <a:srgbClr val="2D68F2"/>
                </a:solidFill>
                <a:latin typeface="Aptos"/>
              </a:rPr>
              <a:t>RETRIEVAL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811026" y="2636686"/>
            <a:ext cx="2258568" cy="1783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dirty="0">
                <a:solidFill>
                  <a:srgbClr val="5E5F7D"/>
                </a:solidFill>
                <a:latin typeface="Aptos"/>
              </a:rPr>
              <a:t>Provisional search
Multi-intent decomposition
Final parallel retrieval
Enterprise corpus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4737998" y="4120031"/>
            <a:ext cx="2487168" cy="1075436"/>
          </a:xfrm>
          <a:prstGeom prst="roundRect">
            <a:avLst/>
          </a:prstGeom>
          <a:solidFill>
            <a:srgbClr val="F0FAF8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4690102" y="4193146"/>
            <a:ext cx="77504" cy="931926"/>
          </a:xfrm>
          <a:prstGeom prst="rect">
            <a:avLst/>
          </a:prstGeom>
          <a:solidFill>
            <a:srgbClr val="11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4815811" y="4168733"/>
            <a:ext cx="2267712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000" b="1" dirty="0">
                <a:solidFill>
                  <a:srgbClr val="11A094"/>
                </a:solidFill>
                <a:latin typeface="Aptos"/>
              </a:rPr>
              <a:t>SYNTHESIS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815502" y="4367913"/>
            <a:ext cx="2258568" cy="1783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dirty="0">
                <a:solidFill>
                  <a:srgbClr val="5E5F7D"/>
                </a:solidFill>
                <a:latin typeface="Aptos"/>
              </a:rPr>
              <a:t>Intent router
Deterministic regex / math
Llama 3.1 8B
Delta Engine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8756162" y="4094759"/>
            <a:ext cx="2487168" cy="1028192"/>
          </a:xfrm>
          <a:prstGeom prst="roundRect">
            <a:avLst/>
          </a:prstGeom>
          <a:solidFill>
            <a:srgbClr val="FFF7E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8742447" y="4080814"/>
            <a:ext cx="45719" cy="1028192"/>
          </a:xfrm>
          <a:prstGeom prst="rect">
            <a:avLst/>
          </a:prstGeom>
          <a:solidFill>
            <a:srgbClr val="EE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8856745" y="4392390"/>
            <a:ext cx="2258568" cy="1783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0" dirty="0">
                <a:solidFill>
                  <a:srgbClr val="5E5F7D"/>
                </a:solidFill>
                <a:latin typeface="Aptos"/>
              </a:rPr>
              <a:t>Stateful claim drafts
Trust Gauntlet
Grounding boundary / UI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220EB-6021-5C89-556A-5A84FD7E99C7}"/>
              </a:ext>
            </a:extLst>
          </p:cNvPr>
          <p:cNvGrpSpPr/>
          <p:nvPr/>
        </p:nvGrpSpPr>
        <p:grpSpPr>
          <a:xfrm>
            <a:off x="3140455" y="5663345"/>
            <a:ext cx="10270744" cy="752161"/>
            <a:chOff x="3008375" y="5857935"/>
            <a:chExt cx="10270744" cy="752161"/>
          </a:xfrm>
        </p:grpSpPr>
        <p:sp>
          <p:nvSpPr>
            <p:cNvPr id="130" name="TextBox 129"/>
            <p:cNvSpPr txBox="1"/>
            <p:nvPr/>
          </p:nvSpPr>
          <p:spPr>
            <a:xfrm>
              <a:off x="6827374" y="6302758"/>
              <a:ext cx="2267712" cy="256032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1000" b="1">
                  <a:solidFill>
                    <a:srgbClr val="EE7E2B"/>
                  </a:solidFill>
                  <a:latin typeface="Aptos"/>
                </a:rPr>
                <a:t>TRUSTED OUTPUT</a:t>
              </a:r>
            </a:p>
          </p:txBody>
        </p:sp>
        <p:sp>
          <p:nvSpPr>
            <p:cNvPr id="135" name="Rounded Rectangle 134"/>
            <p:cNvSpPr/>
            <p:nvPr/>
          </p:nvSpPr>
          <p:spPr>
            <a:xfrm>
              <a:off x="4514596" y="5857935"/>
              <a:ext cx="7126733" cy="749808"/>
            </a:xfrm>
            <a:prstGeom prst="roundRect">
              <a:avLst/>
            </a:prstGeom>
            <a:solidFill>
              <a:srgbClr val="F6F2FC"/>
            </a:solidFill>
            <a:ln w="10160">
              <a:solidFill>
                <a:srgbClr val="DAD6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6" name="Rectangle 135"/>
            <p:cNvSpPr/>
            <p:nvPr/>
          </p:nvSpPr>
          <p:spPr>
            <a:xfrm>
              <a:off x="4489450" y="5860288"/>
              <a:ext cx="50292" cy="749808"/>
            </a:xfrm>
            <a:prstGeom prst="rect">
              <a:avLst/>
            </a:prstGeom>
            <a:solidFill>
              <a:srgbClr val="6F45B8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3008375" y="5976807"/>
              <a:ext cx="10250424" cy="256032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1000" b="1" dirty="0">
                  <a:solidFill>
                    <a:srgbClr val="6F45B8"/>
                  </a:solidFill>
                  <a:latin typeface="Aptos"/>
                </a:rPr>
                <a:t>THE REFINEMENT LOOP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3037839" y="6210429"/>
              <a:ext cx="10241280" cy="292608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/>
              <a:r>
                <a:rPr sz="1300" b="0" dirty="0">
                  <a:solidFill>
                    <a:srgbClr val="5E5F7D"/>
                  </a:solidFill>
                  <a:latin typeface="Aptos"/>
                </a:rPr>
                <a:t>Speculate early  →  reuse provisional evidence  →  route by intent  →  patch only the changed claim</a:t>
              </a: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E6028E6-BFF0-03F8-AE8F-A5108A4B8E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933" y="1398589"/>
            <a:ext cx="2610980" cy="53268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83280CD-24D5-30DA-F3D7-4C94116FC139}"/>
              </a:ext>
            </a:extLst>
          </p:cNvPr>
          <p:cNvSpPr txBox="1"/>
          <p:nvPr/>
        </p:nvSpPr>
        <p:spPr>
          <a:xfrm>
            <a:off x="8870461" y="4161735"/>
            <a:ext cx="2267712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n-IN" sz="1000" b="1" dirty="0">
                <a:solidFill>
                  <a:srgbClr val="EE7E2B"/>
                </a:solidFill>
                <a:latin typeface="Aptos"/>
              </a:rPr>
              <a:t>GROUNDING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4758690" y="6037963"/>
            <a:ext cx="267462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r>
              <a:rPr lang="en-IN" sz="1800" b="1" dirty="0">
                <a:solidFill>
                  <a:srgbClr val="6F45B8"/>
                </a:solidFill>
                <a:latin typeface="Aptos"/>
              </a:rPr>
              <a:t>Demo </a:t>
            </a:r>
            <a:r>
              <a:rPr lang="en-IN" sz="1800" b="1" dirty="0" err="1">
                <a:solidFill>
                  <a:srgbClr val="6F45B8"/>
                </a:solidFill>
                <a:latin typeface="Aptos"/>
              </a:rPr>
              <a:t>Video:</a:t>
            </a:r>
            <a:r>
              <a:rPr lang="en-IN" sz="1800" b="1" dirty="0" err="1">
                <a:solidFill>
                  <a:srgbClr val="6F45B8"/>
                </a:solidFill>
                <a:latin typeface="Aptos"/>
                <a:hlinkClick r:id="rId3"/>
              </a:rPr>
              <a:t>Click</a:t>
            </a:r>
            <a:r>
              <a:rPr lang="en-IN" sz="1800" b="1" dirty="0">
                <a:solidFill>
                  <a:srgbClr val="6F45B8"/>
                </a:solidFill>
                <a:latin typeface="Aptos"/>
                <a:hlinkClick r:id="rId3"/>
              </a:rPr>
              <a:t> Here</a:t>
            </a:r>
            <a:endParaRPr sz="1800" b="1" dirty="0">
              <a:solidFill>
                <a:srgbClr val="6F45B8"/>
              </a:solidFill>
              <a:latin typeface="Aptos"/>
            </a:endParaRPr>
          </a:p>
        </p:txBody>
      </p:sp>
      <p:sp>
        <p:nvSpPr>
          <p:cNvPr id="122" name="Rounded Rectangle 121"/>
          <p:cNvSpPr/>
          <p:nvPr/>
        </p:nvSpPr>
        <p:spPr>
          <a:xfrm>
            <a:off x="838200" y="2203704"/>
            <a:ext cx="5166360" cy="1298448"/>
          </a:xfrm>
          <a:prstGeom prst="roundRect">
            <a:avLst/>
          </a:prstGeom>
          <a:solidFill>
            <a:srgbClr val="F6F2FC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3" name="Rectangle 122"/>
          <p:cNvSpPr/>
          <p:nvPr/>
        </p:nvSpPr>
        <p:spPr>
          <a:xfrm>
            <a:off x="838200" y="2203704"/>
            <a:ext cx="50292" cy="1298448"/>
          </a:xfrm>
          <a:prstGeom prst="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4" name="TextBox 123"/>
          <p:cNvSpPr txBox="1"/>
          <p:nvPr/>
        </p:nvSpPr>
        <p:spPr>
          <a:xfrm>
            <a:off x="966216" y="2295144"/>
            <a:ext cx="494690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6F45B8"/>
                </a:solidFill>
                <a:latin typeface="Aptos"/>
              </a:rPr>
              <a:t>01  MULTI-INTENT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66216" y="2587752"/>
            <a:ext cx="493776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E5F7D"/>
                </a:solidFill>
                <a:latin typeface="Aptos"/>
              </a:rPr>
              <a:t>“I need a venue in Mumbai and the corporate pet policy.”
Split → retrieve independently → isolate claims.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461760" y="2203704"/>
            <a:ext cx="5166360" cy="1298448"/>
          </a:xfrm>
          <a:prstGeom prst="roundRect">
            <a:avLst/>
          </a:prstGeom>
          <a:solidFill>
            <a:srgbClr val="F1F6F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7" name="Rectangle 126"/>
          <p:cNvSpPr/>
          <p:nvPr/>
        </p:nvSpPr>
        <p:spPr>
          <a:xfrm>
            <a:off x="6461760" y="2203704"/>
            <a:ext cx="50292" cy="1298448"/>
          </a:xfrm>
          <a:prstGeom prst="rect">
            <a:avLst/>
          </a:prstGeom>
          <a:solidFill>
            <a:srgbClr val="2D6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8" name="TextBox 127"/>
          <p:cNvSpPr txBox="1"/>
          <p:nvPr/>
        </p:nvSpPr>
        <p:spPr>
          <a:xfrm>
            <a:off x="6589776" y="2295144"/>
            <a:ext cx="494690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2D68F2"/>
                </a:solidFill>
                <a:latin typeface="Aptos"/>
              </a:rPr>
              <a:t>02  LATE CONSTRAINT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89776" y="2587752"/>
            <a:ext cx="493776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E5F7D"/>
                </a:solidFill>
                <a:latin typeface="Aptos"/>
              </a:rPr>
              <a:t>“Actually, I need capacity for 500 people.”
Delta Engine patches capacity claim; preserves policy claim.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838200" y="3776472"/>
            <a:ext cx="5166360" cy="1298448"/>
          </a:xfrm>
          <a:prstGeom prst="roundRect">
            <a:avLst/>
          </a:prstGeom>
          <a:solidFill>
            <a:srgbClr val="F0FAF8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1" name="Rectangle 130"/>
          <p:cNvSpPr/>
          <p:nvPr/>
        </p:nvSpPr>
        <p:spPr>
          <a:xfrm>
            <a:off x="838200" y="3776472"/>
            <a:ext cx="50292" cy="1298448"/>
          </a:xfrm>
          <a:prstGeom prst="rect">
            <a:avLst/>
          </a:prstGeom>
          <a:solidFill>
            <a:srgbClr val="11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2" name="TextBox 131"/>
          <p:cNvSpPr txBox="1"/>
          <p:nvPr/>
        </p:nvSpPr>
        <p:spPr>
          <a:xfrm>
            <a:off x="966216" y="3867912"/>
            <a:ext cx="494690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1A094"/>
                </a:solidFill>
                <a:latin typeface="Aptos"/>
              </a:rPr>
              <a:t>03  PRESENTATION-ONLY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966216" y="4160520"/>
            <a:ext cx="493776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E5F7D"/>
                </a:solidFill>
                <a:latin typeface="Aptos"/>
              </a:rPr>
              <a:t>“Present this.”
Suppression Gate reuses existing evidence; zero-search path.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461760" y="3776472"/>
            <a:ext cx="5166360" cy="1298448"/>
          </a:xfrm>
          <a:prstGeom prst="roundRect">
            <a:avLst/>
          </a:prstGeom>
          <a:solidFill>
            <a:srgbClr val="FFF7E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5" name="Rectangle 134"/>
          <p:cNvSpPr/>
          <p:nvPr/>
        </p:nvSpPr>
        <p:spPr>
          <a:xfrm>
            <a:off x="6461760" y="3776472"/>
            <a:ext cx="50292" cy="1298448"/>
          </a:xfrm>
          <a:prstGeom prst="rect">
            <a:avLst/>
          </a:prstGeom>
          <a:solidFill>
            <a:srgbClr val="EE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6" name="TextBox 135"/>
          <p:cNvSpPr txBox="1"/>
          <p:nvPr/>
        </p:nvSpPr>
        <p:spPr>
          <a:xfrm>
            <a:off x="6589776" y="3867912"/>
            <a:ext cx="494690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EE7E2B"/>
                </a:solidFill>
                <a:latin typeface="Aptos"/>
              </a:rPr>
              <a:t>04  TRUST GAUNTLET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589776" y="4160520"/>
            <a:ext cx="4937760" cy="8412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E5F7D"/>
                </a:solidFill>
                <a:latin typeface="Aptos"/>
              </a:rPr>
              <a:t>Conflicting / unsupported number
Claim ↔ chunk binding; uncertainty moves to grounding boundary.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94946" y="5527548"/>
            <a:ext cx="11186160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 dirty="0">
                <a:solidFill>
                  <a:srgbClr val="1F1F33"/>
                </a:solidFill>
                <a:latin typeface="Aptos"/>
              </a:rPr>
              <a:t>Result: Aegis preserves what is still valid instead of regenerating the whole answer.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FB12E-250E-57D2-AC18-20C87894283A}"/>
              </a:ext>
            </a:extLst>
          </p:cNvPr>
          <p:cNvSpPr txBox="1"/>
          <p:nvPr/>
        </p:nvSpPr>
        <p:spPr>
          <a:xfrm>
            <a:off x="3770376" y="1718536"/>
            <a:ext cx="59436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6F45B8"/>
                </a:solidFill>
                <a:latin typeface="Aptos"/>
              </a:rPr>
              <a:t>ONE CONVERSATION → FOUR SYSTEM BEHAVIORS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1800860" y="1477848"/>
            <a:ext cx="930148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 dirty="0">
                <a:solidFill>
                  <a:srgbClr val="6F45B8"/>
                </a:solidFill>
                <a:latin typeface="Aptos"/>
              </a:rPr>
              <a:t>THE IMPLEMENTATION IS DELIBERATELY LIGHTWEIGHT AND LOCAL-FIRST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1761228" y="2153400"/>
            <a:ext cx="1764292" cy="246888"/>
          </a:xfrm>
          <a:prstGeom prst="round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9" name="TextBox 128"/>
          <p:cNvSpPr txBox="1"/>
          <p:nvPr/>
        </p:nvSpPr>
        <p:spPr>
          <a:xfrm>
            <a:off x="1761228" y="2144256"/>
            <a:ext cx="1764292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APPLICATION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708400" y="2171688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1F33"/>
                </a:solidFill>
                <a:latin typeface="Aptos"/>
              </a:rPr>
              <a:t>Python • Asyncio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634480" y="2144256"/>
            <a:ext cx="62179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E5F7D"/>
                </a:solidFill>
                <a:latin typeface="Aptos"/>
              </a:rPr>
              <a:t>FastAPI + Uvicorn
WebSocket streaming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1761228" y="3067799"/>
            <a:ext cx="1764292" cy="273999"/>
          </a:xfrm>
          <a:prstGeom prst="roundRect">
            <a:avLst/>
          </a:prstGeom>
          <a:solidFill>
            <a:srgbClr val="2D6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3" name="TextBox 132"/>
          <p:cNvSpPr txBox="1"/>
          <p:nvPr/>
        </p:nvSpPr>
        <p:spPr>
          <a:xfrm>
            <a:off x="1676400" y="3048968"/>
            <a:ext cx="1879600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RETRIEVAL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708400" y="3086088"/>
            <a:ext cx="274320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1F33"/>
                </a:solidFill>
                <a:latin typeface="Aptos"/>
              </a:rPr>
              <a:t>Custom in-memory vector engine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634480" y="3058656"/>
            <a:ext cx="62179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E5F7D"/>
                </a:solidFill>
                <a:latin typeface="Aptos"/>
              </a:rPr>
              <a:t>Fast local embeddings
Cosine similarity + chunk management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1773936" y="3982200"/>
            <a:ext cx="1751584" cy="246888"/>
          </a:xfrm>
          <a:prstGeom prst="roundRect">
            <a:avLst/>
          </a:prstGeom>
          <a:solidFill>
            <a:srgbClr val="11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37" name="TextBox 136"/>
          <p:cNvSpPr txBox="1"/>
          <p:nvPr/>
        </p:nvSpPr>
        <p:spPr>
          <a:xfrm>
            <a:off x="2316480" y="3968448"/>
            <a:ext cx="589280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LLM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3708400" y="4000488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1F33"/>
                </a:solidFill>
                <a:latin typeface="Aptos"/>
              </a:rPr>
              <a:t>Llama 3.1 8B • Ollama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634480" y="3973056"/>
            <a:ext cx="62179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E5F7D"/>
                </a:solidFill>
                <a:latin typeface="Aptos"/>
              </a:rPr>
              <a:t>Local generation
Abstract policy / language synthesis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1773936" y="4896600"/>
            <a:ext cx="1751584" cy="246888"/>
          </a:xfrm>
          <a:prstGeom prst="roundRect">
            <a:avLst/>
          </a:prstGeom>
          <a:solidFill>
            <a:srgbClr val="EE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1" name="TextBox 140"/>
          <p:cNvSpPr txBox="1"/>
          <p:nvPr/>
        </p:nvSpPr>
        <p:spPr>
          <a:xfrm>
            <a:off x="1773936" y="4850856"/>
            <a:ext cx="1751584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GUARDRAILS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708400" y="4914888"/>
            <a:ext cx="27432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F1F33"/>
                </a:solidFill>
                <a:latin typeface="Aptos"/>
              </a:rPr>
              <a:t>Regex + exact token overlap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634480" y="4798618"/>
            <a:ext cx="6217920" cy="56630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 dirty="0">
                <a:solidFill>
                  <a:srgbClr val="5E5F7D"/>
                </a:solidFill>
                <a:latin typeface="Aptos"/>
              </a:rPr>
              <a:t>Deterministic extraction
Claim-level grounding validation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1645920" y="5934456"/>
            <a:ext cx="8910193" cy="704136"/>
          </a:xfrm>
          <a:prstGeom prst="roundRect">
            <a:avLst/>
          </a:prstGeom>
          <a:solidFill>
            <a:srgbClr val="F6F2FC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5" name="Rectangle 144"/>
          <p:cNvSpPr/>
          <p:nvPr/>
        </p:nvSpPr>
        <p:spPr>
          <a:xfrm>
            <a:off x="1645920" y="5998464"/>
            <a:ext cx="115308" cy="640080"/>
          </a:xfrm>
          <a:prstGeom prst="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6" name="TextBox 145"/>
          <p:cNvSpPr txBox="1"/>
          <p:nvPr/>
        </p:nvSpPr>
        <p:spPr>
          <a:xfrm>
            <a:off x="1773936" y="6025896"/>
            <a:ext cx="8407029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6F45B8"/>
                </a:solidFill>
                <a:latin typeface="Aptos"/>
              </a:rPr>
              <a:t>ARCHITECTURE PRINCIPLE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773937" y="6318504"/>
            <a:ext cx="838606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0" dirty="0">
                <a:solidFill>
                  <a:srgbClr val="5E5F7D"/>
                </a:solidFill>
                <a:latin typeface="Aptos"/>
              </a:rPr>
              <a:t>Use the LLM where language is useful; use deterministic logic where precision matters.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3348228" y="1384137"/>
            <a:ext cx="54864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6F45B8"/>
                </a:solidFill>
                <a:latin typeface="Aptos"/>
              </a:rPr>
              <a:t>WHERE STREAMING LIVE RAG CREATES VALUE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574292" y="1874520"/>
            <a:ext cx="9006840" cy="1417320"/>
          </a:xfrm>
          <a:prstGeom prst="roundRect">
            <a:avLst/>
          </a:prstGeom>
          <a:solidFill>
            <a:srgbClr val="F1F6F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38" name="Rectangle 137"/>
          <p:cNvSpPr/>
          <p:nvPr/>
        </p:nvSpPr>
        <p:spPr>
          <a:xfrm>
            <a:off x="1574292" y="1874520"/>
            <a:ext cx="50292" cy="1417320"/>
          </a:xfrm>
          <a:prstGeom prst="rect">
            <a:avLst/>
          </a:prstGeom>
          <a:solidFill>
            <a:srgbClr val="2D6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39" name="TextBox 138"/>
          <p:cNvSpPr txBox="1"/>
          <p:nvPr/>
        </p:nvSpPr>
        <p:spPr>
          <a:xfrm>
            <a:off x="1702308" y="1965960"/>
            <a:ext cx="8787384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2D68F2"/>
                </a:solidFill>
                <a:latin typeface="Aptos"/>
              </a:rPr>
              <a:t>CORPORATE TRAVEL &amp; EVENTS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702308" y="2258568"/>
            <a:ext cx="877824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E5F7D"/>
                </a:solidFill>
                <a:latin typeface="Aptos"/>
              </a:rPr>
              <a:t>Capacity, pricing and policy questions benefit from fast retrieval + deterministic hard constraints.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574292" y="3429000"/>
            <a:ext cx="9006840" cy="1097280"/>
          </a:xfrm>
          <a:prstGeom prst="roundRect">
            <a:avLst/>
          </a:prstGeom>
          <a:solidFill>
            <a:srgbClr val="F0FAF8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42" name="Rectangle 141"/>
          <p:cNvSpPr/>
          <p:nvPr/>
        </p:nvSpPr>
        <p:spPr>
          <a:xfrm>
            <a:off x="1574292" y="3429000"/>
            <a:ext cx="50292" cy="1097280"/>
          </a:xfrm>
          <a:prstGeom prst="rect">
            <a:avLst/>
          </a:prstGeom>
          <a:solidFill>
            <a:srgbClr val="11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43" name="TextBox 142"/>
          <p:cNvSpPr txBox="1"/>
          <p:nvPr/>
        </p:nvSpPr>
        <p:spPr>
          <a:xfrm>
            <a:off x="1702308" y="3520440"/>
            <a:ext cx="8787384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1A094"/>
                </a:solidFill>
                <a:latin typeface="Aptos"/>
              </a:rPr>
              <a:t>HR &amp; COMPLIANCE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702308" y="3813048"/>
            <a:ext cx="877824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E5F7D"/>
                </a:solidFill>
                <a:latin typeface="Aptos"/>
              </a:rPr>
              <a:t>Multi-intent policy questions remain isolated and grounded instead of mixing evidence.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1574292" y="4681728"/>
            <a:ext cx="9006840" cy="1097280"/>
          </a:xfrm>
          <a:prstGeom prst="roundRect">
            <a:avLst/>
          </a:prstGeom>
          <a:solidFill>
            <a:srgbClr val="FFF7E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46" name="Rectangle 145"/>
          <p:cNvSpPr/>
          <p:nvPr/>
        </p:nvSpPr>
        <p:spPr>
          <a:xfrm>
            <a:off x="1574292" y="4681728"/>
            <a:ext cx="50292" cy="1097280"/>
          </a:xfrm>
          <a:prstGeom prst="rect">
            <a:avLst/>
          </a:prstGeom>
          <a:solidFill>
            <a:srgbClr val="EE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47" name="TextBox 146"/>
          <p:cNvSpPr txBox="1"/>
          <p:nvPr/>
        </p:nvSpPr>
        <p:spPr>
          <a:xfrm>
            <a:off x="1702308" y="4773168"/>
            <a:ext cx="8787384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EE7E2B"/>
                </a:solidFill>
                <a:latin typeface="Aptos"/>
              </a:rPr>
              <a:t>CUSTOMER SUPPORT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702308" y="5065776"/>
            <a:ext cx="877824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E5F7D"/>
                </a:solidFill>
                <a:latin typeface="Aptos"/>
              </a:rPr>
              <a:t>A conversational copilot can retrieve while the customer is still talking, then refine only what changed.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3585972" y="5958039"/>
            <a:ext cx="1585467" cy="534836"/>
          </a:xfrm>
          <a:prstGeom prst="round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0" name="TextBox 149"/>
          <p:cNvSpPr txBox="1"/>
          <p:nvPr/>
        </p:nvSpPr>
        <p:spPr>
          <a:xfrm>
            <a:off x="3585972" y="5926566"/>
            <a:ext cx="1585467" cy="56630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LOWER REWORK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186173" y="5958039"/>
            <a:ext cx="1585467" cy="534836"/>
          </a:xfrm>
          <a:prstGeom prst="roundRect">
            <a:avLst/>
          </a:prstGeom>
          <a:solidFill>
            <a:srgbClr val="2D6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2" name="TextBox 151"/>
          <p:cNvSpPr txBox="1"/>
          <p:nvPr/>
        </p:nvSpPr>
        <p:spPr>
          <a:xfrm>
            <a:off x="5197020" y="5906930"/>
            <a:ext cx="1585467" cy="566309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BETTER GROUNDING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797221" y="5958039"/>
            <a:ext cx="1483179" cy="534836"/>
          </a:xfrm>
          <a:prstGeom prst="roundRect">
            <a:avLst/>
          </a:prstGeom>
          <a:solidFill>
            <a:srgbClr val="11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4" name="TextBox 153"/>
          <p:cNvSpPr txBox="1"/>
          <p:nvPr/>
        </p:nvSpPr>
        <p:spPr>
          <a:xfrm>
            <a:off x="6797221" y="6071616"/>
            <a:ext cx="1483179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dirty="0">
                <a:solidFill>
                  <a:srgbClr val="FFFFFF"/>
                </a:solidFill>
                <a:latin typeface="Aptos"/>
              </a:rPr>
              <a:t>REAL-TIME UX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3150108" y="1809560"/>
            <a:ext cx="64008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6F45B8"/>
                </a:solidFill>
                <a:latin typeface="Aptos"/>
              </a:rPr>
              <a:t>INNOVATION HIGHLIGHTS, RESULTS &amp; LIMITATIONS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493776" y="2500249"/>
            <a:ext cx="2103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41" name="TextBox 140"/>
          <p:cNvSpPr txBox="1"/>
          <p:nvPr/>
        </p:nvSpPr>
        <p:spPr>
          <a:xfrm>
            <a:off x="493776" y="2619121"/>
            <a:ext cx="210312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6F45B8"/>
                </a:solidFill>
                <a:latin typeface="Aptos"/>
              </a:rPr>
              <a:t>11.2 ms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66928" y="3067177"/>
            <a:ext cx="1956816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 dirty="0">
                <a:solidFill>
                  <a:srgbClr val="5E5F7D"/>
                </a:solidFill>
                <a:latin typeface="Aptos"/>
              </a:rPr>
              <a:t>median TTFT </a:t>
            </a:r>
            <a:r>
              <a:rPr lang="en-IN" sz="1800" b="0" dirty="0">
                <a:solidFill>
                  <a:srgbClr val="5E5F7D"/>
                </a:solidFill>
                <a:latin typeface="Aptos"/>
              </a:rPr>
              <a:t>-</a:t>
            </a:r>
            <a:r>
              <a:rPr sz="1800" b="0" dirty="0">
                <a:solidFill>
                  <a:srgbClr val="5E5F7D"/>
                </a:solidFill>
                <a:latin typeface="Aptos"/>
              </a:rPr>
              <a:t> refine turn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2779776" y="2500249"/>
            <a:ext cx="2103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44" name="TextBox 143"/>
          <p:cNvSpPr txBox="1"/>
          <p:nvPr/>
        </p:nvSpPr>
        <p:spPr>
          <a:xfrm>
            <a:off x="2779776" y="2619121"/>
            <a:ext cx="210312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2D68F2"/>
                </a:solidFill>
                <a:latin typeface="Aptos"/>
              </a:rPr>
              <a:t>42.9%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852928" y="3067177"/>
            <a:ext cx="1956816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>
                <a:solidFill>
                  <a:srgbClr val="5E5F7D"/>
                </a:solidFill>
                <a:latin typeface="Aptos"/>
              </a:rPr>
              <a:t>retrieval reduction on refine turns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5065776" y="2500249"/>
            <a:ext cx="2103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47" name="TextBox 146"/>
          <p:cNvSpPr txBox="1"/>
          <p:nvPr/>
        </p:nvSpPr>
        <p:spPr>
          <a:xfrm>
            <a:off x="5065776" y="2619121"/>
            <a:ext cx="210312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11A094"/>
                </a:solidFill>
                <a:latin typeface="Aptos"/>
              </a:rPr>
              <a:t>100%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5138928" y="3067177"/>
            <a:ext cx="1956816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>
                <a:solidFill>
                  <a:srgbClr val="5E5F7D"/>
                </a:solidFill>
                <a:latin typeface="Aptos"/>
              </a:rPr>
              <a:t>grounded claims • 39/39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7351776" y="2500249"/>
            <a:ext cx="21031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50" name="TextBox 149"/>
          <p:cNvSpPr txBox="1"/>
          <p:nvPr/>
        </p:nvSpPr>
        <p:spPr>
          <a:xfrm>
            <a:off x="7351776" y="2619121"/>
            <a:ext cx="210312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EE7E2B"/>
                </a:solidFill>
                <a:latin typeface="Aptos"/>
              </a:rPr>
              <a:t>0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424928" y="3067177"/>
            <a:ext cx="1956816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>
                <a:solidFill>
                  <a:srgbClr val="5E5F7D"/>
                </a:solidFill>
                <a:latin typeface="Aptos"/>
              </a:rPr>
              <a:t>fabricated document IDs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9637776" y="2500249"/>
            <a:ext cx="20574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54" name="TextBox 153"/>
          <p:cNvSpPr txBox="1"/>
          <p:nvPr/>
        </p:nvSpPr>
        <p:spPr>
          <a:xfrm>
            <a:off x="9765792" y="2591689"/>
            <a:ext cx="1837944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6F45B8"/>
                </a:solidFill>
                <a:latin typeface="Aptos"/>
              </a:rPr>
              <a:t>TRUST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765792" y="2884297"/>
            <a:ext cx="1828800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>
                <a:solidFill>
                  <a:srgbClr val="5E5F7D"/>
                </a:solidFill>
                <a:latin typeface="Aptos"/>
              </a:rPr>
              <a:t>4/4 adversarial tests passed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22376" y="4526915"/>
            <a:ext cx="5303520" cy="1965960"/>
          </a:xfrm>
          <a:prstGeom prst="roundRect">
            <a:avLst/>
          </a:prstGeom>
          <a:solidFill>
            <a:srgbClr val="F6F2FC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7" name="Rectangle 156"/>
          <p:cNvSpPr/>
          <p:nvPr/>
        </p:nvSpPr>
        <p:spPr>
          <a:xfrm>
            <a:off x="722376" y="4526915"/>
            <a:ext cx="50292" cy="1965960"/>
          </a:xfrm>
          <a:prstGeom prst="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8" name="TextBox 157"/>
          <p:cNvSpPr txBox="1"/>
          <p:nvPr/>
        </p:nvSpPr>
        <p:spPr>
          <a:xfrm>
            <a:off x="850392" y="4618355"/>
            <a:ext cx="508406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6F45B8"/>
                </a:solidFill>
                <a:latin typeface="Aptos"/>
              </a:rPr>
              <a:t>INNOVATION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50392" y="4910963"/>
            <a:ext cx="5074920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E5F7D"/>
                </a:solidFill>
                <a:latin typeface="Aptos"/>
              </a:rPr>
              <a:t>• Speculative retrieval overlaps latency with speech
• Deterministic solver handles hard numbers
• Delta Engine preserves unaffected claims
• Trust boundary makes uncertainty explicit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300216" y="4526915"/>
            <a:ext cx="5303520" cy="1965960"/>
          </a:xfrm>
          <a:prstGeom prst="roundRect">
            <a:avLst/>
          </a:prstGeom>
          <a:solidFill>
            <a:srgbClr val="FFF7E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1" name="Rectangle 160"/>
          <p:cNvSpPr/>
          <p:nvPr/>
        </p:nvSpPr>
        <p:spPr>
          <a:xfrm>
            <a:off x="6300216" y="4526915"/>
            <a:ext cx="50292" cy="1965960"/>
          </a:xfrm>
          <a:prstGeom prst="rect">
            <a:avLst/>
          </a:prstGeom>
          <a:solidFill>
            <a:srgbClr val="EE7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2" name="TextBox 161"/>
          <p:cNvSpPr txBox="1"/>
          <p:nvPr/>
        </p:nvSpPr>
        <p:spPr>
          <a:xfrm>
            <a:off x="6428232" y="4618355"/>
            <a:ext cx="5084064" cy="3200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EE7E2B"/>
                </a:solidFill>
                <a:latin typeface="Aptos"/>
              </a:rPr>
              <a:t>LIMITATIONS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428232" y="4910963"/>
            <a:ext cx="5074920" cy="105875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E5F7D"/>
                </a:solidFill>
                <a:latin typeface="Aptos"/>
              </a:rPr>
              <a:t>• Concurrent local LLM generation can spike latency
• Speculation can be weak if a critical noun arrives after a pause
• Refine turns therefore bypass stale speculative context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1879600" y="1714703"/>
            <a:ext cx="947420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6F45B8"/>
                </a:solidFill>
                <a:latin typeface="Aptos"/>
              </a:rPr>
              <a:t>ROADMAP: FROM LOCAL HYBRID RAG → PREDICTIVE, ROUTED KNOWLEDGE SYSTEM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645160" y="2457704"/>
            <a:ext cx="3401568" cy="2194560"/>
          </a:xfrm>
          <a:prstGeom prst="roundRect">
            <a:avLst/>
          </a:prstGeom>
          <a:solidFill>
            <a:srgbClr val="F6F2FC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47" name="Rectangle 146"/>
          <p:cNvSpPr/>
          <p:nvPr/>
        </p:nvSpPr>
        <p:spPr>
          <a:xfrm>
            <a:off x="645160" y="2457704"/>
            <a:ext cx="50292" cy="2194560"/>
          </a:xfrm>
          <a:prstGeom prst="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48" name="TextBox 147"/>
          <p:cNvSpPr txBox="1"/>
          <p:nvPr/>
        </p:nvSpPr>
        <p:spPr>
          <a:xfrm>
            <a:off x="773176" y="2549144"/>
            <a:ext cx="31821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6F45B8"/>
                </a:solidFill>
                <a:latin typeface="Aptos"/>
              </a:rPr>
              <a:t>01  DYNAMIC MODEL ROUTING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84606" y="3330817"/>
            <a:ext cx="3172968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 dirty="0">
                <a:solidFill>
                  <a:srgbClr val="5E5F7D"/>
                </a:solidFill>
                <a:latin typeface="Aptos"/>
              </a:rPr>
              <a:t>Route complex reasoning to frontier models; keep extraction local.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394199" y="2457704"/>
            <a:ext cx="3401568" cy="2194560"/>
          </a:xfrm>
          <a:prstGeom prst="roundRect">
            <a:avLst/>
          </a:prstGeom>
          <a:solidFill>
            <a:srgbClr val="F1F6FF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51" name="Rectangle 150"/>
          <p:cNvSpPr/>
          <p:nvPr/>
        </p:nvSpPr>
        <p:spPr>
          <a:xfrm>
            <a:off x="4394199" y="2457704"/>
            <a:ext cx="50292" cy="2194560"/>
          </a:xfrm>
          <a:prstGeom prst="rect">
            <a:avLst/>
          </a:prstGeom>
          <a:solidFill>
            <a:srgbClr val="2D6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52" name="TextBox 151"/>
          <p:cNvSpPr txBox="1"/>
          <p:nvPr/>
        </p:nvSpPr>
        <p:spPr>
          <a:xfrm>
            <a:off x="4522215" y="2549144"/>
            <a:ext cx="31821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2D68F2"/>
                </a:solidFill>
                <a:latin typeface="Aptos"/>
              </a:rPr>
              <a:t>02  PREDICTIVE SPECULATION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533645" y="3348089"/>
            <a:ext cx="3172968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>
                <a:solidFill>
                  <a:srgbClr val="5E5F7D"/>
                </a:solidFill>
                <a:latin typeface="Aptos"/>
              </a:rPr>
              <a:t>Use small models to predict likely sentence endings and prefetch evidence.</a:t>
            </a:r>
          </a:p>
        </p:txBody>
      </p:sp>
      <p:sp>
        <p:nvSpPr>
          <p:cNvPr id="154" name="Rounded Rectangle 153"/>
          <p:cNvSpPr/>
          <p:nvPr/>
        </p:nvSpPr>
        <p:spPr>
          <a:xfrm>
            <a:off x="8143238" y="2457704"/>
            <a:ext cx="3401568" cy="2194560"/>
          </a:xfrm>
          <a:prstGeom prst="roundRect">
            <a:avLst/>
          </a:prstGeom>
          <a:solidFill>
            <a:srgbClr val="F0FAF8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55" name="Rectangle 154"/>
          <p:cNvSpPr/>
          <p:nvPr/>
        </p:nvSpPr>
        <p:spPr>
          <a:xfrm>
            <a:off x="8143238" y="2457704"/>
            <a:ext cx="50292" cy="2194560"/>
          </a:xfrm>
          <a:prstGeom prst="rect">
            <a:avLst/>
          </a:prstGeom>
          <a:solidFill>
            <a:srgbClr val="11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56" name="TextBox 155"/>
          <p:cNvSpPr txBox="1"/>
          <p:nvPr/>
        </p:nvSpPr>
        <p:spPr>
          <a:xfrm>
            <a:off x="8271254" y="2549144"/>
            <a:ext cx="3182112" cy="62786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11A094"/>
                </a:solidFill>
                <a:latin typeface="Aptos"/>
              </a:rPr>
              <a:t>03  KNOWLEDGE GRAPH INTEGRATION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8271254" y="3348089"/>
            <a:ext cx="3172968" cy="90486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 dirty="0">
                <a:solidFill>
                  <a:srgbClr val="5E5F7D"/>
                </a:solidFill>
                <a:latin typeface="Aptos"/>
              </a:rPr>
              <a:t>Extend deterministic reasoning to relationships, policies and organizational context.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021080" y="5511800"/>
            <a:ext cx="10149840" cy="822960"/>
          </a:xfrm>
          <a:prstGeom prst="roundRect">
            <a:avLst/>
          </a:prstGeom>
          <a:solidFill>
            <a:srgbClr val="F6F2FC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59" name="Rectangle 158"/>
          <p:cNvSpPr/>
          <p:nvPr/>
        </p:nvSpPr>
        <p:spPr>
          <a:xfrm>
            <a:off x="1021080" y="5511800"/>
            <a:ext cx="50292" cy="822960"/>
          </a:xfrm>
          <a:prstGeom prst="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60" name="TextBox 159"/>
          <p:cNvSpPr txBox="1"/>
          <p:nvPr/>
        </p:nvSpPr>
        <p:spPr>
          <a:xfrm>
            <a:off x="1149096" y="5603240"/>
            <a:ext cx="9930384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6F45B8"/>
                </a:solidFill>
                <a:latin typeface="Aptos"/>
              </a:rPr>
              <a:t>NORTH STAR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149096" y="5895848"/>
            <a:ext cx="992124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>
                <a:solidFill>
                  <a:srgbClr val="5E5F7D"/>
                </a:solidFill>
                <a:latin typeface="Aptos"/>
              </a:rPr>
              <a:t>Make retrieval predictive, reasoning specialized, and knowledge continuously reusable across turns.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 dirty="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 dirty="0">
              <a:solidFill>
                <a:srgbClr val="704EA6"/>
              </a:solidFill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833880" y="1726193"/>
            <a:ext cx="914908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>
                <a:solidFill>
                  <a:srgbClr val="6F45B8"/>
                </a:solidFill>
                <a:latin typeface="Aptos"/>
              </a:rPr>
              <a:t>THE KEY SHIFT: FROM A STATELESS RAG CHAIN TO A STATEFUL CLAIM PROCESSOR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02920" y="3937000"/>
            <a:ext cx="5074920" cy="2103120"/>
          </a:xfrm>
          <a:prstGeom prst="roundRect">
            <a:avLst/>
          </a:prstGeom>
          <a:solidFill>
            <a:srgbClr val="F8F8FA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53" name="Rectangle 152"/>
          <p:cNvSpPr/>
          <p:nvPr/>
        </p:nvSpPr>
        <p:spPr>
          <a:xfrm>
            <a:off x="502920" y="3937000"/>
            <a:ext cx="50292" cy="2103120"/>
          </a:xfrm>
          <a:prstGeom prst="rect">
            <a:avLst/>
          </a:prstGeom>
          <a:solidFill>
            <a:srgbClr val="5E5F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54" name="TextBox 153"/>
          <p:cNvSpPr txBox="1"/>
          <p:nvPr/>
        </p:nvSpPr>
        <p:spPr>
          <a:xfrm>
            <a:off x="630936" y="4028440"/>
            <a:ext cx="4855464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lang="en-IN" sz="1800" b="1" dirty="0">
                <a:solidFill>
                  <a:srgbClr val="5E5F7D"/>
                </a:solidFill>
                <a:latin typeface="Aptos"/>
              </a:rPr>
              <a:t>GENERIC</a:t>
            </a:r>
            <a:r>
              <a:rPr sz="1800" b="1" dirty="0">
                <a:solidFill>
                  <a:srgbClr val="5E5F7D"/>
                </a:solidFill>
                <a:latin typeface="Aptos"/>
              </a:rPr>
              <a:t> RAG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30936" y="4321048"/>
            <a:ext cx="4846320" cy="11818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>
                <a:solidFill>
                  <a:srgbClr val="5E5F7D"/>
                </a:solidFill>
                <a:latin typeface="Aptos"/>
              </a:rPr>
              <a:t>Query → retrieve → prompt → generate
Every refinement restarts the pipeline.
LLM handles language and numbers together.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537960" y="3937000"/>
            <a:ext cx="5074920" cy="2103120"/>
          </a:xfrm>
          <a:prstGeom prst="roundRect">
            <a:avLst/>
          </a:prstGeom>
          <a:solidFill>
            <a:srgbClr val="F6F2FC"/>
          </a:solidFill>
          <a:ln w="10160">
            <a:solidFill>
              <a:srgbClr val="DAD6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57" name="Rectangle 156"/>
          <p:cNvSpPr/>
          <p:nvPr/>
        </p:nvSpPr>
        <p:spPr>
          <a:xfrm>
            <a:off x="6537960" y="3937000"/>
            <a:ext cx="50292" cy="2103120"/>
          </a:xfrm>
          <a:prstGeom prst="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58" name="TextBox 157"/>
          <p:cNvSpPr txBox="1"/>
          <p:nvPr/>
        </p:nvSpPr>
        <p:spPr>
          <a:xfrm>
            <a:off x="6665976" y="4028440"/>
            <a:ext cx="4855464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>
                <a:solidFill>
                  <a:srgbClr val="6F45B8"/>
                </a:solidFill>
                <a:latin typeface="Aptos"/>
              </a:rPr>
              <a:t>AEGIS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6665976" y="4321048"/>
            <a:ext cx="4846320" cy="11818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0">
                <a:solidFill>
                  <a:srgbClr val="5E5F7D"/>
                </a:solidFill>
                <a:latin typeface="Aptos"/>
              </a:rPr>
              <a:t>Claims → state → semantic diff → surgical patch
Unchanged evidence stays valid.
Hard numbers bypass probabilistic generation.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731266" y="2367625"/>
            <a:ext cx="1118616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800" b="1" dirty="0">
                <a:solidFill>
                  <a:srgbClr val="1F1F33"/>
                </a:solidFill>
                <a:latin typeface="Aptos"/>
              </a:rPr>
              <a:t>Aegis treats knowledge as a compiled, stateful object </a:t>
            </a:r>
            <a:r>
              <a:rPr lang="en-IN" sz="1800" b="1" dirty="0">
                <a:solidFill>
                  <a:srgbClr val="1F1F33"/>
                </a:solidFill>
                <a:latin typeface="Aptos"/>
              </a:rPr>
              <a:t>-</a:t>
            </a:r>
            <a:r>
              <a:rPr sz="1800" b="1" dirty="0">
                <a:solidFill>
                  <a:srgbClr val="1F1F33"/>
                </a:solidFill>
                <a:latin typeface="Aptos"/>
              </a:rPr>
              <a:t> not just retrieved text handed to an LLM.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3538220" y="2951542"/>
            <a:ext cx="1554480" cy="246888"/>
          </a:xfrm>
          <a:prstGeom prst="roundRect">
            <a:avLst/>
          </a:prstGeom>
          <a:solidFill>
            <a:srgbClr val="6F4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62" name="TextBox 161"/>
          <p:cNvSpPr txBox="1"/>
          <p:nvPr/>
        </p:nvSpPr>
        <p:spPr>
          <a:xfrm>
            <a:off x="3538220" y="2890410"/>
            <a:ext cx="1554480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STATEFUL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5229861" y="2951542"/>
            <a:ext cx="1554480" cy="246888"/>
          </a:xfrm>
          <a:prstGeom prst="roundRect">
            <a:avLst/>
          </a:prstGeom>
          <a:solidFill>
            <a:srgbClr val="2D6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64" name="TextBox 163"/>
          <p:cNvSpPr txBox="1"/>
          <p:nvPr/>
        </p:nvSpPr>
        <p:spPr>
          <a:xfrm>
            <a:off x="5229861" y="2890410"/>
            <a:ext cx="1554480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SURGICAL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6921500" y="2951542"/>
            <a:ext cx="2174241" cy="246888"/>
          </a:xfrm>
          <a:prstGeom prst="roundRect">
            <a:avLst/>
          </a:prstGeom>
          <a:solidFill>
            <a:srgbClr val="11A0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166" name="TextBox 165"/>
          <p:cNvSpPr txBox="1"/>
          <p:nvPr/>
        </p:nvSpPr>
        <p:spPr>
          <a:xfrm>
            <a:off x="6817360" y="2890410"/>
            <a:ext cx="2382520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DETERMINISTIC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2" name="Google Shape;156;p11">
            <a:extLst>
              <a:ext uri="{FF2B5EF4-FFF2-40B4-BE49-F238E27FC236}">
                <a16:creationId xmlns:a16="http://schemas.microsoft.com/office/drawing/2014/main" id="{A503B4C8-1553-D653-055B-48E5AAC347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- public or shared GitHub repo </a:t>
            </a:r>
            <a:r>
              <a:rPr lang="en-US" dirty="0">
                <a:solidFill>
                  <a:srgbClr val="63637E"/>
                </a:solidFill>
              </a:rPr>
              <a:t>- Yes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</a:t>
            </a:r>
            <a:r>
              <a:rPr lang="en-US" dirty="0">
                <a:solidFill>
                  <a:srgbClr val="63637E"/>
                </a:solidFill>
              </a:rPr>
              <a:t>- Yes</a:t>
            </a:r>
            <a:endParaRPr sz="2800" dirty="0"/>
          </a:p>
          <a:p>
            <a:pPr marL="177800" lvl="0" indent="-177800">
              <a:spcBef>
                <a:spcPts val="1500"/>
              </a:spcBef>
              <a:buClr>
                <a:srgbClr val="63637E"/>
              </a:buClr>
              <a:buSzPts val="2800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</a:t>
            </a:r>
            <a:r>
              <a:rPr lang="en-US" dirty="0">
                <a:solidFill>
                  <a:srgbClr val="63637E"/>
                </a:solidFill>
              </a:rPr>
              <a:t>- </a:t>
            </a:r>
            <a:r>
              <a:rPr lang="en-US" dirty="0">
                <a:solidFill>
                  <a:srgbClr val="63637E"/>
                </a:solidFill>
                <a:hlinkClick r:id="rId3"/>
              </a:rPr>
              <a:t>https://drive.google.com/file/d/11YE5tzn1XtS09P18pabqhoy7KuI7gPUi/view?usp=sharing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</a:t>
            </a:r>
            <a:r>
              <a:rPr lang="en-US" dirty="0">
                <a:solidFill>
                  <a:srgbClr val="63637E"/>
                </a:solidFill>
              </a:rPr>
              <a:t>- Yes</a:t>
            </a: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777240" y="4411980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777240" y="5532120"/>
            <a:ext cx="640080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000" b="0" dirty="0">
                <a:solidFill>
                  <a:srgbClr val="5E5F7D"/>
                </a:solidFill>
                <a:latin typeface="Aptos"/>
              </a:rPr>
              <a:t>Thapar Institute of Engineering and Technology • </a:t>
            </a:r>
            <a:r>
              <a:rPr sz="1000" b="0" dirty="0" err="1">
                <a:solidFill>
                  <a:srgbClr val="5E5F7D"/>
                </a:solidFill>
                <a:latin typeface="Aptos"/>
              </a:rPr>
              <a:t>TheMeowfias</a:t>
            </a:r>
            <a:endParaRPr sz="1000" b="0" dirty="0">
              <a:solidFill>
                <a:srgbClr val="5E5F7D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1085</Words>
  <Application>Microsoft Office PowerPoint</Application>
  <PresentationFormat>Widescreen</PresentationFormat>
  <Paragraphs>148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NATRAJ KUMAR</cp:lastModifiedBy>
  <cp:revision>2</cp:revision>
  <dcterms:created xsi:type="dcterms:W3CDTF">2026-09-07T12:01:01Z</dcterms:created>
  <dcterms:modified xsi:type="dcterms:W3CDTF">2026-10-01T10:02:48Z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